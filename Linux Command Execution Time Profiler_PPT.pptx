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3EF6440-E70C-5B4E-ADAC-251E4D85E02C}">
          <p14:sldIdLst>
            <p14:sldId id="256"/>
            <p14:sldId id="257"/>
            <p14:sldId id="258"/>
          </p14:sldIdLst>
        </p14:section>
        <p14:section name="Design and Implementation" id="{DDDB93CC-5DA6-BDEC-D2FF-34E5B2EC94B6}">
          <p14:sldIdLst>
            <p14:sldId id="259"/>
            <p14:sldId id="260"/>
            <p14:sldId id="261"/>
          </p14:sldIdLst>
        </p14:section>
        <p14:section name="Evaluation" id="{2AC150A1-8CD1-4CE8-6736-F8D86C585859}">
          <p14:sldIdLst>
            <p14:sldId id="262"/>
            <p14:sldId id="263"/>
          </p14:sldIdLst>
        </p14:section>
        <p14:section name="Wrap-up" id="{4CD1A8A9-5223-629F-EA07-1BA0DC3BDDBE}">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001752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and the team. Say: this is our Operating Systems hackathon project, the Linux Command Execution Time Profiler. It is a small C program that runs a Linux command and reports how long it took and what resources it used. (Note: the program banner and README use the shorter name 'Linux Command Execution Profiler'; both refer to the same program.) Faculty guide: V MUNIRAJU.</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motivation. We use commands like ls all the time but rarely know how long they take or how much CPU/memory they use. Elapsed time alone is not enough: a command can take 2 seconds but use almost no CPU (we will see this with sleep 2). Our problem statement is on the right: build a Linux tool that runs a command and reports elapsed time, CPU usage, maximum memory and exit status.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six objectives quickly, then explain the solution. Our solution is one C program. It reads a command, creates a child process, runs the command in the child, waits for it to finish, collects timing and resource data, and prints an execution report. The diagram on the right shows terminal -&gt; profiler -&gt; report.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tools we used. C for the program, GCC to compile, Ubuntu on WSL2 as the Linux environment on Windows, Git and GitHub for version control and hosting. Right: the four key APIs. fork() creates the child, execvp() runs the command, wait4() waits and gives us resource usage, and clock_gettime with CLOCK_MONOTONIC measures elapsed wall-clock time.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flow in order. 1: user enters a command. 2: the program splits it at spaces. 3: it records the start time and calls fork(), which creates a child process. 4: the child calls execvp() to run the command; if the command does not exist, execvp fails, the child prints an error and exits with status 127. 5: meanwhile the parent calls wait4(), which waits for the child and fills in the resource-usage structure. 6: the end time is taken and elapsed time is computed. 7: user CPU, system CPU and max memory come from the rusage structure; the exit status comes from the wait status. 8: the report is printed. 9: the loop returns to the prompt until the user types exit. Note: the dark boxes are the three key process-management steps. The input checks (empty line, too-long line, exit) happen in step 1 before any process is created.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stages: accept input, create child, execute command, measure elapsed time, collect CPU and memory usage, display the report. The report has six fields: command, execution time, user CPU time, system CPU time, maximum memory and exit status. Compile with gcc -Wall -Wextra profiler.c -o profiler and run with ./profiler. The screenshot is our real compile-and-start session. Point out: the 'Command' field shows only the command name (for example 'ls' for 'ls -l'), because the program prints the first token. User and system CPU time come from the rusage structure filled by wait4(); maximum memory is the maximum resident set size in KB.</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clear about what is measured and what is expected. Tests 1 to 3 are observed: we have terminal screenshots with the values. Tests 4 and 5 (empty input and exit) are expected behaviour taken from the source code and recorded as passed in our README, but we did not capture screenshots, so we label them 'Expected'. Test 1 observed exit status 0; Test 2 elapsed 2.003424 s; Test 3 printed 'Command execution failed: No such file or directory' and exit status 127 (the usual shell convention for 'command not found').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real measurements from our terminal screenshots, unaltered. Test A, ls -l: 0.005022 s elapsed, 8644 KB, exit 0. Test B, sleep 2: 2.003424 s elapsed but only 0.003018 s system CPU and zero user CPU: the process mostly waits, so elapsed time and CPU time are very different. Test C, abcxyz: the command does not exist, so execvp fails in the child, which exits with 127. Its elapsed time (0.223443 s) is larger than ls -l; we ran each test once and did not investigate why, so we do not draw conclusions from it. Elapsed time includes the cost of fork() and execvp(), since the start time is taken before fork(). Every value is from a single run and may vary; these are example outputs, not benchmarks. The Command field shows 'ls' for 'ls -l' because only the first token is printed.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side: what the current version cannot do. It only splits at spaces and tabs, so there are no pipes, redirection or quoted arguments with spaces. Results vary run to run, and it is a command-line tool only. Right side (dashed border): these are PROPOSED future improvements, not features that exist today: better parsing, pipelines and redirection, saving reports to files, comparing repeated runs, and summaries or graphs. Additional limitations from the report if asked: shell built-ins like cd are not available because commands run through execvp(); lines over 255 characters are rejected; at most 63 tokens are kept.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we built a C-based profiler that runs a command with fork, execvp and wait4, measures elapsed time with CLOCK_MONOTONIC, and reports CPU time, maximum memory and exit status. We tested a normal command, a sleep command and an invalid command. It demonstrates process creation, execution and waiting, and gives a foundation for further analysis. Source code and README are in the GitHub repository. 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A0C10"/>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325880"/>
            <a:ext cx="6400800" cy="201168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
        <p:nvSpPr>
          <p:cNvPr id="3" name="Text 0"/>
          <p:cNvSpPr>
            <a:spLocks noGrp="1"/>
          </p:cNvSpPr>
          <p:nvPr>
            <p:ph type="body" idx="101" hasCustomPrompt="1"/>
          </p:nvPr>
        </p:nvSpPr>
        <p:spPr>
          <a:xfrm>
            <a:off x="640080" y="3429000"/>
            <a:ext cx="6309360" cy="914400"/>
          </a:xfrm>
          <a:prstGeom prst="rect">
            <a:avLst/>
          </a:prstGeom>
          <a:noFill/>
          <a:ln/>
        </p:spPr>
        <p:txBody>
          <a:bodyPr wrap="square" rtlCol="0"/>
          <a:lstStyle>
            <a:lvl1pPr marL="0" indent="0" algn="l">
              <a:buNone/>
              <a:defRPr lang="en-US" sz="1800" dirty="0">
                <a:solidFill>
                  <a:schemeClr val="accent6"/>
                </a:solidFill>
              </a:defRPr>
            </a:lvl1pPr>
          </a:lstStyle>
          <a:p>
            <a:pPr marL="0" indent="0" algn="l">
              <a:buNone/>
            </a:pPr>
            <a:endParaRPr lang="en-US" sz="1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9AA7BA"/>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LIGHT">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6419088"/>
            <a:ext cx="9144000" cy="274320"/>
          </a:xfrm>
          <a:prstGeom prst="rect">
            <a:avLst/>
          </a:prstGeom>
          <a:noFill/>
          <a:ln/>
        </p:spPr>
        <p:txBody>
          <a:bodyPr wrap="square" lIns="0" tIns="0" rIns="0" bIns="0" rtlCol="0" anchor="ctr"/>
          <a:lstStyle/>
          <a:p>
            <a:pPr marL="0" indent="0">
              <a:buNone/>
            </a:pPr>
            <a:r>
              <a:rPr lang="en-US" sz="1000" dirty="0">
                <a:solidFill>
                  <a:srgbClr val="6B7685"/>
                </a:solidFill>
              </a:rPr>
              <a:t>Linux Command Execution Time Profiler  |  OS Hackathon  |  KLH Bachupally / KL University</a:t>
            </a:r>
            <a:endParaRPr lang="en-US" sz="1000" dirty="0"/>
          </a:p>
        </p:txBody>
      </p:sp>
      <p:sp>
        <p:nvSpPr>
          <p:cNvPr id="3" name="Text 1"/>
          <p:cNvSpPr>
            <a:spLocks noGrp="1"/>
          </p:cNvSpPr>
          <p:nvPr>
            <p:ph type="title" idx="101" hasCustomPrompt="1"/>
          </p:nvPr>
        </p:nvSpPr>
        <p:spPr>
          <a:xfrm>
            <a:off x="548640" y="320040"/>
            <a:ext cx="11064240" cy="777240"/>
          </a:xfrm>
          <a:prstGeom prst="rect">
            <a:avLst/>
          </a:prstGeom>
          <a:noFill/>
          <a:ln/>
        </p:spPr>
        <p:txBody>
          <a:bodyPr wrap="square" rtlCol="0"/>
          <a:lstStyle>
            <a:lvl1pPr marL="0" indent="0" algn="l">
              <a:buNone/>
              <a:defRPr lang="en-US" sz="3400" b="1" dirty="0">
                <a:solidFill>
                  <a:schemeClr val="tx2"/>
                </a:solidFill>
              </a:defRPr>
            </a:lvl1pPr>
          </a:lstStyle>
          <a:p>
            <a:pPr marL="0" indent="0" algn="l">
              <a:buNone/>
            </a:pPr>
            <a:endParaRPr lang="en-US" sz="34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685"/>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_DARK">
    <p:bg>
      <p:bgPr>
        <a:solidFill>
          <a:srgbClr val="0A0C10"/>
        </a:solidFill>
        <a:effectLst/>
      </p:bgPr>
    </p:bg>
    <p:spTree>
      <p:nvGrpSpPr>
        <p:cNvPr id="1" name=""/>
        <p:cNvGrpSpPr/>
        <p:nvPr/>
      </p:nvGrpSpPr>
      <p:grpSpPr>
        <a:xfrm>
          <a:off x="0" y="0"/>
          <a:ext cx="0" cy="0"/>
          <a:chOff x="0" y="0"/>
          <a:chExt cx="0" cy="0"/>
        </a:xfrm>
      </p:grpSpPr>
      <p:sp>
        <p:nvSpPr>
          <p:cNvPr id="2" name="Text 0"/>
          <p:cNvSpPr/>
          <p:nvPr/>
        </p:nvSpPr>
        <p:spPr>
          <a:xfrm>
            <a:off x="548640" y="6419088"/>
            <a:ext cx="9144000" cy="274320"/>
          </a:xfrm>
          <a:prstGeom prst="rect">
            <a:avLst/>
          </a:prstGeom>
          <a:noFill/>
          <a:ln/>
        </p:spPr>
        <p:txBody>
          <a:bodyPr wrap="square" lIns="0" tIns="0" rIns="0" bIns="0" rtlCol="0" anchor="ctr"/>
          <a:lstStyle/>
          <a:p>
            <a:pPr marL="0" indent="0">
              <a:buNone/>
            </a:pPr>
            <a:r>
              <a:rPr lang="en-US" sz="1000" dirty="0">
                <a:solidFill>
                  <a:srgbClr val="9AA7BA"/>
                </a:solidFill>
              </a:rPr>
              <a:t>Linux Command Execution Time Profiler  |  OS Hackathon  |  KLH Bachupally / KL University</a:t>
            </a:r>
            <a:endParaRPr lang="en-US" sz="1000" dirty="0"/>
          </a:p>
        </p:txBody>
      </p:sp>
      <p:sp>
        <p:nvSpPr>
          <p:cNvPr id="3" name="Text 1"/>
          <p:cNvSpPr>
            <a:spLocks noGrp="1"/>
          </p:cNvSpPr>
          <p:nvPr>
            <p:ph type="title" idx="101" hasCustomPrompt="1"/>
          </p:nvPr>
        </p:nvSpPr>
        <p:spPr>
          <a:xfrm>
            <a:off x="548640" y="320040"/>
            <a:ext cx="11064240" cy="777240"/>
          </a:xfrm>
          <a:prstGeom prst="rect">
            <a:avLst/>
          </a:prstGeom>
          <a:noFill/>
          <a:ln/>
        </p:spPr>
        <p:txBody>
          <a:bodyPr wrap="square" rtlCol="0"/>
          <a:lstStyle>
            <a:lvl1pPr marL="0" indent="0" algn="l">
              <a:buNone/>
              <a:defRPr lang="en-US" sz="3400" b="1" dirty="0">
                <a:solidFill>
                  <a:schemeClr val="bg1"/>
                </a:solidFill>
              </a:defRPr>
            </a:lvl1pPr>
          </a:lstStyle>
          <a:p>
            <a:pPr marL="0" indent="0" algn="l">
              <a:buNone/>
            </a:pPr>
            <a:endParaRPr lang="en-US" sz="34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9AA7BA"/>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9AA7BA"/>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kanusri-tmj/linux-command-profiler" TargetMode="External"/><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731520"/>
            <a:ext cx="6858000" cy="320040"/>
          </a:xfrm>
          <a:prstGeom prst="rect">
            <a:avLst/>
          </a:prstGeom>
          <a:noFill/>
          <a:ln/>
        </p:spPr>
        <p:txBody>
          <a:bodyPr wrap="square" lIns="0" tIns="0" rIns="0" bIns="0" rtlCol="0" anchor="t"/>
          <a:lstStyle/>
          <a:p>
            <a:pPr marL="0" indent="0">
              <a:buNone/>
            </a:pPr>
            <a:r>
              <a:rPr lang="en-US" sz="1400" b="1" kern="0" spc="300" dirty="0">
                <a:solidFill>
                  <a:schemeClr val="accent2"/>
                </a:solidFill>
              </a:rPr>
              <a:t>OPERATING SYSTEMS HACKATHON PROJECT</a:t>
            </a:r>
            <a:endParaRPr lang="en-US" sz="1400" dirty="0"/>
          </a:p>
        </p:txBody>
      </p:sp>
      <p:sp>
        <p:nvSpPr>
          <p:cNvPr id="3" name="Text 0"/>
          <p:cNvSpPr>
            <a:spLocks noGrp="1"/>
          </p:cNvSpPr>
          <p:nvPr>
            <p:ph type="title" idx="100" hasCustomPrompt="1"/>
          </p:nvPr>
        </p:nvSpPr>
        <p:spPr>
          <a:xfrm>
            <a:off x="640080" y="1325880"/>
            <a:ext cx="6400800" cy="2011680"/>
          </a:xfrm>
          <a:prstGeom prst="rect">
            <a:avLst/>
          </a:prstGeom>
          <a:noFill/>
          <a:ln/>
        </p:spPr>
        <p:txBody>
          <a:bodyPr wrap="square" lIns="0" tIns="0" rIns="0" bIns="0" rtlCol="0" anchor="t"/>
          <a:lstStyle/>
          <a:p>
            <a:pPr marL="0" indent="0" algn="l">
              <a:buNone/>
            </a:pPr>
            <a:r>
              <a:rPr lang="en-US" sz="4400" b="1" dirty="0">
                <a:solidFill>
                  <a:schemeClr val="bg1"/>
                </a:solidFill>
              </a:rPr>
              <a:t>Linux Command Execution Time Profiler</a:t>
            </a:r>
            <a:endParaRPr lang="en-US" sz="4400" dirty="0"/>
          </a:p>
        </p:txBody>
      </p:sp>
      <p:sp>
        <p:nvSpPr>
          <p:cNvPr id="4" name="Text 0"/>
          <p:cNvSpPr>
            <a:spLocks noGrp="1"/>
          </p:cNvSpPr>
          <p:nvPr>
            <p:ph type="body" idx="101" hasCustomPrompt="1"/>
          </p:nvPr>
        </p:nvSpPr>
        <p:spPr>
          <a:xfrm>
            <a:off x="640080" y="3429000"/>
            <a:ext cx="6309360" cy="914400"/>
          </a:xfrm>
          <a:prstGeom prst="rect">
            <a:avLst/>
          </a:prstGeom>
          <a:noFill/>
          <a:ln/>
        </p:spPr>
        <p:txBody>
          <a:bodyPr wrap="square" lIns="0" tIns="0" rIns="0" bIns="0" rtlCol="0" anchor="t"/>
          <a:lstStyle/>
          <a:p>
            <a:pPr marL="0" indent="0" algn="l">
              <a:buNone/>
            </a:pPr>
            <a:r>
              <a:rPr lang="en-US" sz="1800" dirty="0">
                <a:solidFill>
                  <a:schemeClr val="accent6"/>
                </a:solidFill>
              </a:rPr>
              <a:t>A Linux-Based Tool for Measuring Command Execution Time and Resource Usage</a:t>
            </a:r>
            <a:endParaRPr lang="en-US" sz="1800" dirty="0"/>
          </a:p>
        </p:txBody>
      </p:sp>
      <p:sp>
        <p:nvSpPr>
          <p:cNvPr id="5" name="Text 3"/>
          <p:cNvSpPr txBox="1"/>
          <p:nvPr/>
        </p:nvSpPr>
        <p:spPr>
          <a:xfrm>
            <a:off x="640080" y="4800600"/>
            <a:ext cx="6400800" cy="1097280"/>
          </a:xfrm>
          <a:prstGeom prst="rect">
            <a:avLst/>
          </a:prstGeom>
          <a:noFill/>
          <a:ln/>
        </p:spPr>
        <p:txBody>
          <a:bodyPr wrap="square" lIns="0" tIns="0" rIns="0" bIns="0" rtlCol="0" anchor="t"/>
          <a:lstStyle/>
          <a:p>
            <a:pPr marL="0" indent="0">
              <a:spcAft>
                <a:spcPts val="400"/>
              </a:spcAft>
              <a:buNone/>
            </a:pPr>
            <a:r>
              <a:rPr lang="en-US" sz="1600" dirty="0">
                <a:solidFill>
                  <a:schemeClr val="bg1"/>
                </a:solidFill>
              </a:rPr>
              <a:t>Department of Computer Science and Engineering</a:t>
            </a:r>
            <a:endParaRPr lang="en-US" sz="1600" dirty="0"/>
          </a:p>
          <a:p>
            <a:pPr marL="0" indent="0">
              <a:spcAft>
                <a:spcPts val="400"/>
              </a:spcAft>
              <a:buNone/>
            </a:pPr>
            <a:r>
              <a:rPr lang="en-US" sz="1600" dirty="0">
                <a:solidFill>
                  <a:schemeClr val="bg1"/>
                </a:solidFill>
              </a:rPr>
              <a:t>KLH Bachupally / KL University</a:t>
            </a:r>
            <a:endParaRPr lang="en-US" sz="1600" dirty="0"/>
          </a:p>
          <a:p>
            <a:pPr marL="0" indent="0">
              <a:spcAft>
                <a:spcPts val="400"/>
              </a:spcAft>
              <a:buNone/>
            </a:pPr>
            <a:r>
              <a:rPr lang="en-US" sz="1600" dirty="0">
                <a:solidFill>
                  <a:srgbClr val="9AA7BA"/>
                </a:solidFill>
              </a:rPr>
              <a:t>Faculty: </a:t>
            </a:r>
            <a:r>
              <a:rPr lang="en-US" sz="1600" b="1" dirty="0">
                <a:solidFill>
                  <a:schemeClr val="bg1"/>
                </a:solidFill>
              </a:rPr>
              <a:t>V MUNIRAJU</a:t>
            </a:r>
            <a:endParaRPr lang="en-US" sz="1600" dirty="0"/>
          </a:p>
        </p:txBody>
      </p:sp>
      <p:sp>
        <p:nvSpPr>
          <p:cNvPr id="6" name="Team card"/>
          <p:cNvSpPr/>
          <p:nvPr/>
        </p:nvSpPr>
        <p:spPr>
          <a:xfrm>
            <a:off x="7498080" y="1097280"/>
            <a:ext cx="4114800" cy="4526280"/>
          </a:xfrm>
          <a:prstGeom prst="roundRect">
            <a:avLst>
              <a:gd name="adj" fmla="val 1778"/>
            </a:avLst>
          </a:prstGeom>
          <a:solidFill>
            <a:srgbClr val="0B2A5B"/>
          </a:solidFill>
          <a:ln/>
        </p:spPr>
      </p:sp>
      <p:sp>
        <p:nvSpPr>
          <p:cNvPr id="7" name="Text 5"/>
          <p:cNvSpPr txBox="1"/>
          <p:nvPr/>
        </p:nvSpPr>
        <p:spPr>
          <a:xfrm>
            <a:off x="7818120" y="1371600"/>
            <a:ext cx="3474720" cy="274320"/>
          </a:xfrm>
          <a:prstGeom prst="rect">
            <a:avLst/>
          </a:prstGeom>
          <a:noFill/>
          <a:ln/>
        </p:spPr>
        <p:txBody>
          <a:bodyPr wrap="square" lIns="0" tIns="0" rIns="0" bIns="0" rtlCol="0" anchor="t"/>
          <a:lstStyle/>
          <a:p>
            <a:pPr marL="0" indent="0">
              <a:buNone/>
            </a:pPr>
            <a:r>
              <a:rPr lang="en-US" sz="1200" b="1" kern="0" spc="200" dirty="0">
                <a:solidFill>
                  <a:schemeClr val="accent2"/>
                </a:solidFill>
              </a:rPr>
              <a:t>TEAM MEMBERS</a:t>
            </a:r>
            <a:endParaRPr lang="en-US" sz="1200" dirty="0"/>
          </a:p>
        </p:txBody>
      </p:sp>
      <p:graphicFrame>
        <p:nvGraphicFramePr>
          <p:cNvPr id="8" name="Team table"/>
          <p:cNvGraphicFramePr>
            <a:graphicFrameLocks noGrp="1"/>
          </p:cNvGraphicFramePr>
          <p:nvPr>
            <p:extLst>
              <p:ext uri="{D42A27DB-BD31-4B8C-83A1-F6EECF244321}">
                <p14:modId xmlns:p14="http://schemas.microsoft.com/office/powerpoint/2010/main" val="1579011935"/>
              </p:ext>
            </p:extLst>
          </p:nvPr>
        </p:nvGraphicFramePr>
        <p:xfrm>
          <a:off x="7818120" y="1783080"/>
          <a:ext cx="3520440" cy="3291840"/>
        </p:xfrm>
        <a:graphic>
          <a:graphicData uri="http://schemas.openxmlformats.org/drawingml/2006/table">
            <a:tbl>
              <a:tblPr/>
              <a:tblGrid>
                <a:gridCol w="160020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tblGrid>
              <a:tr h="365760">
                <a:tc>
                  <a:txBody>
                    <a:bodyPr/>
                    <a:lstStyle/>
                    <a:p>
                      <a:pPr marL="0" indent="0">
                        <a:buNone/>
                      </a:pPr>
                      <a:r>
                        <a:rPr lang="en-US" sz="1200" b="1" dirty="0">
                          <a:solidFill>
                            <a:srgbClr val="7FA6E3"/>
                          </a:solidFill>
                        </a:rPr>
                        <a:t>ROLL NO.</a:t>
                      </a:r>
                      <a:endParaRPr lang="en-US" sz="1200" dirty="0"/>
                    </a:p>
                  </a:txBody>
                  <a:tcPr marL="45720" marR="45720" marT="0" marB="0" anchor="ctr">
                    <a:lnL w="0" cap="flat" cmpd="sng" algn="ctr">
                      <a:noFill/>
                    </a:lnL>
                    <a:lnR w="0" cap="flat" cmpd="sng" algn="ctr">
                      <a:noFill/>
                    </a:lnR>
                    <a:lnT w="0" cap="flat" cmpd="sng" algn="ctr">
                      <a:noFill/>
                    </a:lnT>
                    <a:lnB w="9525" cap="flat" cmpd="sng" algn="ctr">
                      <a:solidFill>
                        <a:srgbClr val="1F4E9E"/>
                      </a:solidFill>
                      <a:prstDash val="solid"/>
                      <a:round/>
                      <a:headEnd type="none" w="med" len="med"/>
                      <a:tailEnd type="none" w="med" len="med"/>
                    </a:lnB>
                    <a:solidFill>
                      <a:srgbClr val="0B2A5B"/>
                    </a:solidFill>
                  </a:tcPr>
                </a:tc>
                <a:tc>
                  <a:txBody>
                    <a:bodyPr/>
                    <a:lstStyle/>
                    <a:p>
                      <a:pPr marL="0" indent="0">
                        <a:buNone/>
                      </a:pPr>
                      <a:r>
                        <a:rPr lang="en-US" sz="1200" b="1" dirty="0">
                          <a:solidFill>
                            <a:srgbClr val="7FA6E3"/>
                          </a:solidFill>
                        </a:rPr>
                        <a:t>NAME</a:t>
                      </a:r>
                      <a:endParaRPr lang="en-US" sz="1200" dirty="0"/>
                    </a:p>
                  </a:txBody>
                  <a:tcPr marL="45720" marR="45720" marT="0" marB="0" anchor="ctr">
                    <a:lnL w="0" cap="flat" cmpd="sng" algn="ctr">
                      <a:noFill/>
                    </a:lnL>
                    <a:lnR w="0" cap="flat" cmpd="sng" algn="ctr">
                      <a:noFill/>
                    </a:lnR>
                    <a:lnT w="0" cap="flat" cmpd="sng" algn="ctr">
                      <a:noFill/>
                    </a:lnT>
                    <a:lnB w="9525" cap="flat" cmpd="sng" algn="ctr">
                      <a:solidFill>
                        <a:srgbClr val="1F4E9E"/>
                      </a:solidFill>
                      <a:prstDash val="solid"/>
                      <a:round/>
                      <a:headEnd type="none" w="med" len="med"/>
                      <a:tailEnd type="none" w="med" len="med"/>
                    </a:lnB>
                    <a:solidFill>
                      <a:srgbClr val="0B2A5B"/>
                    </a:solidFill>
                  </a:tcPr>
                </a:tc>
                <a:extLst>
                  <a:ext uri="{0D108BD9-81ED-4DB2-BD59-A6C34878D82A}">
                    <a16:rowId xmlns:a16="http://schemas.microsoft.com/office/drawing/2014/main" val="10000"/>
                  </a:ext>
                </a:extLst>
              </a:tr>
              <a:tr h="731520">
                <a:tc>
                  <a:txBody>
                    <a:bodyPr/>
                    <a:lstStyle/>
                    <a:p>
                      <a:pPr marL="0" indent="0">
                        <a:buNone/>
                      </a:pPr>
                      <a:r>
                        <a:rPr lang="en-US" sz="1500" dirty="0">
                          <a:solidFill>
                            <a:srgbClr val="FFFFFF"/>
                          </a:solidFill>
                          <a:latin typeface="Courier New" pitchFamily="34" charset="0"/>
                          <a:ea typeface="Courier New" pitchFamily="34" charset="-122"/>
                          <a:cs typeface="Courier New" pitchFamily="34" charset="-120"/>
                        </a:rPr>
                        <a:t>2520030432</a:t>
                      </a:r>
                      <a:endParaRPr lang="en-US" sz="1500" dirty="0">
                        <a:latin typeface="Courier New" charset="0"/>
                        <a:ea typeface="Courier New" charset="0"/>
                        <a:cs typeface="Courier New" charset="0"/>
                      </a:endParaRPr>
                    </a:p>
                  </a:txBody>
                  <a:tcPr marL="45720" marR="45720" marT="0" marB="0" anchor="ctr">
                    <a:lnL w="0" cap="flat" cmpd="sng" algn="ctr">
                      <a:noFill/>
                    </a:lnL>
                    <a:lnR w="0" cap="flat" cmpd="sng" algn="ctr">
                      <a:noFill/>
                    </a:lnR>
                    <a:lnT w="9525" cap="flat" cmpd="sng" algn="ctr">
                      <a:solidFill>
                        <a:srgbClr val="1F4E9E"/>
                      </a:solidFill>
                      <a:prstDash val="solid"/>
                      <a:round/>
                      <a:headEnd type="none" w="med" len="med"/>
                      <a:tailEnd type="none" w="med" len="med"/>
                    </a:lnT>
                    <a:lnB w="9525" cap="flat" cmpd="sng" algn="ctr">
                      <a:solidFill>
                        <a:srgbClr val="1F4E9E"/>
                      </a:solidFill>
                      <a:prstDash val="solid"/>
                      <a:round/>
                      <a:headEnd type="none" w="med" len="med"/>
                      <a:tailEnd type="none" w="med" len="med"/>
                    </a:lnB>
                    <a:solidFill>
                      <a:srgbClr val="0B2A5B"/>
                    </a:solidFill>
                  </a:tcPr>
                </a:tc>
                <a:tc>
                  <a:txBody>
                    <a:bodyPr/>
                    <a:lstStyle/>
                    <a:p>
                      <a:pPr marL="0" indent="0">
                        <a:buNone/>
                      </a:pPr>
                      <a:r>
                        <a:rPr lang="en-US" sz="1600" b="1" dirty="0">
                          <a:solidFill>
                            <a:srgbClr val="FFFFFF"/>
                          </a:solidFill>
                        </a:rPr>
                        <a:t>K ANUSRI</a:t>
                      </a:r>
                      <a:endParaRPr lang="en-US" sz="1600" dirty="0"/>
                    </a:p>
                  </a:txBody>
                  <a:tcPr marL="45720" marR="45720" marT="0" marB="0" anchor="ctr">
                    <a:lnL w="0" cap="flat" cmpd="sng" algn="ctr">
                      <a:noFill/>
                    </a:lnL>
                    <a:lnR w="0" cap="flat" cmpd="sng" algn="ctr">
                      <a:noFill/>
                    </a:lnR>
                    <a:lnT w="9525" cap="flat" cmpd="sng" algn="ctr">
                      <a:solidFill>
                        <a:srgbClr val="1F4E9E"/>
                      </a:solidFill>
                      <a:prstDash val="solid"/>
                      <a:round/>
                      <a:headEnd type="none" w="med" len="med"/>
                      <a:tailEnd type="none" w="med" len="med"/>
                    </a:lnT>
                    <a:lnB w="9525" cap="flat" cmpd="sng" algn="ctr">
                      <a:solidFill>
                        <a:srgbClr val="1F4E9E"/>
                      </a:solidFill>
                      <a:prstDash val="solid"/>
                      <a:round/>
                      <a:headEnd type="none" w="med" len="med"/>
                      <a:tailEnd type="none" w="med" len="med"/>
                    </a:lnB>
                    <a:solidFill>
                      <a:srgbClr val="0B2A5B"/>
                    </a:solidFill>
                  </a:tcPr>
                </a:tc>
                <a:extLst>
                  <a:ext uri="{0D108BD9-81ED-4DB2-BD59-A6C34878D82A}">
                    <a16:rowId xmlns:a16="http://schemas.microsoft.com/office/drawing/2014/main" val="10001"/>
                  </a:ext>
                </a:extLst>
              </a:tr>
              <a:tr h="731520">
                <a:tc>
                  <a:txBody>
                    <a:bodyPr/>
                    <a:lstStyle/>
                    <a:p>
                      <a:pPr marL="0" indent="0">
                        <a:buNone/>
                      </a:pPr>
                      <a:r>
                        <a:rPr lang="en-US" sz="1500" dirty="0">
                          <a:solidFill>
                            <a:srgbClr val="FFFFFF"/>
                          </a:solidFill>
                          <a:latin typeface="Courier New" pitchFamily="34" charset="0"/>
                          <a:ea typeface="Courier New" pitchFamily="34" charset="-122"/>
                          <a:cs typeface="Courier New" pitchFamily="34" charset="-120"/>
                        </a:rPr>
                        <a:t>2520030440</a:t>
                      </a:r>
                      <a:endParaRPr lang="en-US" sz="1500" dirty="0">
                        <a:latin typeface="Courier New" charset="0"/>
                        <a:ea typeface="Courier New" charset="0"/>
                        <a:cs typeface="Courier New" charset="0"/>
                      </a:endParaRPr>
                    </a:p>
                  </a:txBody>
                  <a:tcPr marL="45720" marR="45720" marT="0" marB="0" anchor="ctr">
                    <a:lnL w="0" cap="flat" cmpd="sng" algn="ctr">
                      <a:noFill/>
                    </a:lnL>
                    <a:lnR w="0" cap="flat" cmpd="sng" algn="ctr">
                      <a:noFill/>
                    </a:lnR>
                    <a:lnT w="9525" cap="flat" cmpd="sng" algn="ctr">
                      <a:solidFill>
                        <a:srgbClr val="1F4E9E"/>
                      </a:solidFill>
                      <a:prstDash val="solid"/>
                      <a:round/>
                      <a:headEnd type="none" w="med" len="med"/>
                      <a:tailEnd type="none" w="med" len="med"/>
                    </a:lnT>
                    <a:lnB w="9525" cap="flat" cmpd="sng" algn="ctr">
                      <a:solidFill>
                        <a:srgbClr val="1F4E9E"/>
                      </a:solidFill>
                      <a:prstDash val="solid"/>
                      <a:round/>
                      <a:headEnd type="none" w="med" len="med"/>
                      <a:tailEnd type="none" w="med" len="med"/>
                    </a:lnB>
                    <a:solidFill>
                      <a:srgbClr val="0B2A5B"/>
                    </a:solidFill>
                  </a:tcPr>
                </a:tc>
                <a:tc>
                  <a:txBody>
                    <a:bodyPr/>
                    <a:lstStyle/>
                    <a:p>
                      <a:pPr marL="0" indent="0">
                        <a:buNone/>
                      </a:pPr>
                      <a:r>
                        <a:rPr lang="en-US" sz="1600" b="1" dirty="0">
                          <a:solidFill>
                            <a:srgbClr val="FFFFFF"/>
                          </a:solidFill>
                        </a:rPr>
                        <a:t>K SAI ANSHU</a:t>
                      </a:r>
                      <a:endParaRPr lang="en-US" sz="1600" dirty="0"/>
                    </a:p>
                  </a:txBody>
                  <a:tcPr marL="45720" marR="45720" marT="0" marB="0" anchor="ctr">
                    <a:lnL w="0" cap="flat" cmpd="sng" algn="ctr">
                      <a:noFill/>
                    </a:lnL>
                    <a:lnR w="0" cap="flat" cmpd="sng" algn="ctr">
                      <a:noFill/>
                    </a:lnR>
                    <a:lnT w="9525" cap="flat" cmpd="sng" algn="ctr">
                      <a:solidFill>
                        <a:srgbClr val="1F4E9E"/>
                      </a:solidFill>
                      <a:prstDash val="solid"/>
                      <a:round/>
                      <a:headEnd type="none" w="med" len="med"/>
                      <a:tailEnd type="none" w="med" len="med"/>
                    </a:lnT>
                    <a:lnB w="9525" cap="flat" cmpd="sng" algn="ctr">
                      <a:solidFill>
                        <a:srgbClr val="1F4E9E"/>
                      </a:solidFill>
                      <a:prstDash val="solid"/>
                      <a:round/>
                      <a:headEnd type="none" w="med" len="med"/>
                      <a:tailEnd type="none" w="med" len="med"/>
                    </a:lnB>
                    <a:solidFill>
                      <a:srgbClr val="0B2A5B"/>
                    </a:solidFill>
                  </a:tcPr>
                </a:tc>
                <a:extLst>
                  <a:ext uri="{0D108BD9-81ED-4DB2-BD59-A6C34878D82A}">
                    <a16:rowId xmlns:a16="http://schemas.microsoft.com/office/drawing/2014/main" val="10002"/>
                  </a:ext>
                </a:extLst>
              </a:tr>
              <a:tr h="731520">
                <a:tc>
                  <a:txBody>
                    <a:bodyPr/>
                    <a:lstStyle/>
                    <a:p>
                      <a:pPr marL="0" indent="0">
                        <a:buNone/>
                      </a:pPr>
                      <a:r>
                        <a:rPr lang="en-US" sz="1500" dirty="0">
                          <a:solidFill>
                            <a:srgbClr val="FFFFFF"/>
                          </a:solidFill>
                          <a:latin typeface="Courier New" pitchFamily="34" charset="0"/>
                          <a:ea typeface="Courier New" pitchFamily="34" charset="-122"/>
                          <a:cs typeface="Courier New" pitchFamily="34" charset="-120"/>
                        </a:rPr>
                        <a:t>2520030193</a:t>
                      </a:r>
                      <a:endParaRPr lang="en-US" sz="1500" dirty="0">
                        <a:latin typeface="Courier New" charset="0"/>
                        <a:ea typeface="Courier New" charset="0"/>
                        <a:cs typeface="Courier New" charset="0"/>
                      </a:endParaRPr>
                    </a:p>
                  </a:txBody>
                  <a:tcPr marL="45720" marR="45720" marT="0" marB="0" anchor="ctr">
                    <a:lnL w="0" cap="flat" cmpd="sng" algn="ctr">
                      <a:noFill/>
                    </a:lnL>
                    <a:lnR w="0" cap="flat" cmpd="sng" algn="ctr">
                      <a:noFill/>
                    </a:lnR>
                    <a:lnT w="9525" cap="flat" cmpd="sng" algn="ctr">
                      <a:solidFill>
                        <a:srgbClr val="1F4E9E"/>
                      </a:solidFill>
                      <a:prstDash val="solid"/>
                      <a:round/>
                      <a:headEnd type="none" w="med" len="med"/>
                      <a:tailEnd type="none" w="med" len="med"/>
                    </a:lnT>
                    <a:lnB w="9525" cap="flat" cmpd="sng" algn="ctr">
                      <a:solidFill>
                        <a:srgbClr val="1F4E9E"/>
                      </a:solidFill>
                      <a:prstDash val="solid"/>
                      <a:round/>
                      <a:headEnd type="none" w="med" len="med"/>
                      <a:tailEnd type="none" w="med" len="med"/>
                    </a:lnB>
                    <a:solidFill>
                      <a:srgbClr val="0B2A5B"/>
                    </a:solidFill>
                  </a:tcPr>
                </a:tc>
                <a:tc>
                  <a:txBody>
                    <a:bodyPr/>
                    <a:lstStyle/>
                    <a:p>
                      <a:pPr marL="0" indent="0">
                        <a:buNone/>
                      </a:pPr>
                      <a:r>
                        <a:rPr lang="en-US" sz="1600" b="1" dirty="0">
                          <a:solidFill>
                            <a:srgbClr val="FFFFFF"/>
                          </a:solidFill>
                        </a:rPr>
                        <a:t>K DHEERAJ</a:t>
                      </a:r>
                      <a:endParaRPr lang="en-US" sz="1600" dirty="0"/>
                    </a:p>
                  </a:txBody>
                  <a:tcPr marL="45720" marR="45720" marT="0" marB="0" anchor="ctr">
                    <a:lnL w="0" cap="flat" cmpd="sng" algn="ctr">
                      <a:noFill/>
                    </a:lnL>
                    <a:lnR w="0" cap="flat" cmpd="sng" algn="ctr">
                      <a:noFill/>
                    </a:lnR>
                    <a:lnT w="9525" cap="flat" cmpd="sng" algn="ctr">
                      <a:solidFill>
                        <a:srgbClr val="1F4E9E"/>
                      </a:solidFill>
                      <a:prstDash val="solid"/>
                      <a:round/>
                      <a:headEnd type="none" w="med" len="med"/>
                      <a:tailEnd type="none" w="med" len="med"/>
                    </a:lnT>
                    <a:lnB w="9525" cap="flat" cmpd="sng" algn="ctr">
                      <a:solidFill>
                        <a:srgbClr val="1F4E9E"/>
                      </a:solidFill>
                      <a:prstDash val="solid"/>
                      <a:round/>
                      <a:headEnd type="none" w="med" len="med"/>
                      <a:tailEnd type="none" w="med" len="med"/>
                    </a:lnB>
                    <a:solidFill>
                      <a:srgbClr val="0B2A5B"/>
                    </a:solidFill>
                  </a:tcPr>
                </a:tc>
                <a:extLst>
                  <a:ext uri="{0D108BD9-81ED-4DB2-BD59-A6C34878D82A}">
                    <a16:rowId xmlns:a16="http://schemas.microsoft.com/office/drawing/2014/main" val="10003"/>
                  </a:ext>
                </a:extLst>
              </a:tr>
              <a:tr h="731520">
                <a:tc>
                  <a:txBody>
                    <a:bodyPr/>
                    <a:lstStyle/>
                    <a:p>
                      <a:pPr marL="0" indent="0">
                        <a:buNone/>
                      </a:pPr>
                      <a:r>
                        <a:rPr lang="en-US" sz="1500" dirty="0">
                          <a:solidFill>
                            <a:srgbClr val="FFFFFF"/>
                          </a:solidFill>
                          <a:latin typeface="Courier New" pitchFamily="34" charset="0"/>
                          <a:ea typeface="Courier New" pitchFamily="34" charset="-122"/>
                          <a:cs typeface="Courier New" pitchFamily="34" charset="-120"/>
                        </a:rPr>
                        <a:t>2520030028</a:t>
                      </a:r>
                      <a:endParaRPr lang="en-US" sz="1500" dirty="0">
                        <a:latin typeface="Courier New" charset="0"/>
                        <a:ea typeface="Courier New" charset="0"/>
                        <a:cs typeface="Courier New" charset="0"/>
                      </a:endParaRPr>
                    </a:p>
                  </a:txBody>
                  <a:tcPr marL="45720" marR="45720" marT="0" marB="0" anchor="ctr">
                    <a:lnL w="0" cap="flat" cmpd="sng" algn="ctr">
                      <a:noFill/>
                    </a:lnL>
                    <a:lnR w="0" cap="flat" cmpd="sng" algn="ctr">
                      <a:noFill/>
                    </a:lnR>
                    <a:lnT w="9525" cap="flat" cmpd="sng" algn="ctr">
                      <a:solidFill>
                        <a:srgbClr val="1F4E9E"/>
                      </a:solidFill>
                      <a:prstDash val="solid"/>
                      <a:round/>
                      <a:headEnd type="none" w="med" len="med"/>
                      <a:tailEnd type="none" w="med" len="med"/>
                    </a:lnT>
                    <a:lnB w="9525" cap="flat" cmpd="sng" algn="ctr">
                      <a:solidFill>
                        <a:srgbClr val="1F4E9E"/>
                      </a:solidFill>
                      <a:prstDash val="solid"/>
                      <a:round/>
                      <a:headEnd type="none" w="med" len="med"/>
                      <a:tailEnd type="none" w="med" len="med"/>
                    </a:lnB>
                    <a:solidFill>
                      <a:srgbClr val="0B2A5B"/>
                    </a:solidFill>
                  </a:tcPr>
                </a:tc>
                <a:tc>
                  <a:txBody>
                    <a:bodyPr/>
                    <a:lstStyle/>
                    <a:p>
                      <a:pPr marL="0" indent="0">
                        <a:buNone/>
                      </a:pPr>
                      <a:r>
                        <a:rPr lang="en-US" sz="1600" b="1" dirty="0">
                          <a:solidFill>
                            <a:srgbClr val="FFFFFF"/>
                          </a:solidFill>
                        </a:rPr>
                        <a:t>B MOHITH</a:t>
                      </a:r>
                      <a:endParaRPr lang="en-US" sz="1600" dirty="0"/>
                    </a:p>
                  </a:txBody>
                  <a:tcPr marL="45720" marR="45720" marT="0" marB="0" anchor="ctr">
                    <a:lnL w="0" cap="flat" cmpd="sng" algn="ctr">
                      <a:noFill/>
                    </a:lnL>
                    <a:lnR w="0" cap="flat" cmpd="sng" algn="ctr">
                      <a:noFill/>
                    </a:lnR>
                    <a:lnT w="9525" cap="flat" cmpd="sng" algn="ctr">
                      <a:solidFill>
                        <a:srgbClr val="1F4E9E"/>
                      </a:solidFill>
                      <a:prstDash val="solid"/>
                      <a:round/>
                      <a:headEnd type="none" w="med" len="med"/>
                      <a:tailEnd type="none" w="med" len="med"/>
                    </a:lnT>
                    <a:lnB w="9525" cap="flat" cmpd="sng" algn="ctr">
                      <a:solidFill>
                        <a:srgbClr val="1F4E9E"/>
                      </a:solidFill>
                      <a:prstDash val="solid"/>
                      <a:round/>
                      <a:headEnd type="none" w="med" len="med"/>
                      <a:tailEnd type="none" w="med" len="med"/>
                    </a:lnB>
                    <a:solidFill>
                      <a:srgbClr val="0B2A5B"/>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9AA7BA"/>
                </a:solidFill>
              </a:defRPr>
            </a:lvl1pPr>
          </a:lstStyle>
          <a:p>
            <a:pPr algn="r"/>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400" b="1" dirty="0">
                <a:solidFill>
                  <a:schemeClr val="tx2"/>
                </a:solidFill>
              </a:rPr>
              <a:t>Problem Statement</a:t>
            </a:r>
            <a:endParaRPr lang="en-US" sz="3400" dirty="0"/>
          </a:p>
        </p:txBody>
      </p:sp>
      <p:sp>
        <p:nvSpPr>
          <p:cNvPr id="3" name="Context card 1"/>
          <p:cNvSpPr/>
          <p:nvPr/>
        </p:nvSpPr>
        <p:spPr>
          <a:xfrm>
            <a:off x="548640" y="1417320"/>
            <a:ext cx="6126480" cy="914400"/>
          </a:xfrm>
          <a:prstGeom prst="roundRect">
            <a:avLst>
              <a:gd name="adj" fmla="val 8000"/>
            </a:avLst>
          </a:prstGeom>
          <a:solidFill>
            <a:srgbClr val="EAF0F8"/>
          </a:solidFill>
          <a:ln/>
        </p:spPr>
      </p:sp>
      <p:sp>
        <p:nvSpPr>
          <p:cNvPr id="4" name="Shape 2"/>
          <p:cNvSpPr/>
          <p:nvPr/>
        </p:nvSpPr>
        <p:spPr>
          <a:xfrm>
            <a:off x="777240" y="1645920"/>
            <a:ext cx="457200" cy="457200"/>
          </a:xfrm>
          <a:prstGeom prst="ellipse">
            <a:avLst/>
          </a:prstGeom>
          <a:solidFill>
            <a:srgbClr val="0B2A5B"/>
          </a:solidFill>
          <a:ln/>
        </p:spPr>
      </p:sp>
      <p:sp>
        <p:nvSpPr>
          <p:cNvPr id="5" name="Text 3"/>
          <p:cNvSpPr txBox="1"/>
          <p:nvPr/>
        </p:nvSpPr>
        <p:spPr>
          <a:xfrm>
            <a:off x="777240" y="164592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6" name="Text 4"/>
          <p:cNvSpPr txBox="1"/>
          <p:nvPr/>
        </p:nvSpPr>
        <p:spPr>
          <a:xfrm>
            <a:off x="1463040" y="1417320"/>
            <a:ext cx="5029200" cy="914400"/>
          </a:xfrm>
          <a:prstGeom prst="rect">
            <a:avLst/>
          </a:prstGeom>
          <a:noFill/>
          <a:ln/>
        </p:spPr>
        <p:txBody>
          <a:bodyPr wrap="square" lIns="0" tIns="0" rIns="0" bIns="0" rtlCol="0" anchor="ctr"/>
          <a:lstStyle/>
          <a:p>
            <a:pPr marL="0" indent="0">
              <a:buNone/>
            </a:pPr>
            <a:r>
              <a:rPr lang="en-US" sz="1700" dirty="0">
                <a:solidFill>
                  <a:schemeClr val="tx1"/>
                </a:solidFill>
              </a:rPr>
              <a:t>Users run commands for file management, system operations and other tasks.</a:t>
            </a:r>
            <a:endParaRPr lang="en-US" sz="1700" dirty="0"/>
          </a:p>
        </p:txBody>
      </p:sp>
      <p:sp>
        <p:nvSpPr>
          <p:cNvPr id="7" name="Context card 2"/>
          <p:cNvSpPr/>
          <p:nvPr/>
        </p:nvSpPr>
        <p:spPr>
          <a:xfrm>
            <a:off x="548640" y="2606040"/>
            <a:ext cx="6126480" cy="914400"/>
          </a:xfrm>
          <a:prstGeom prst="roundRect">
            <a:avLst>
              <a:gd name="adj" fmla="val 8000"/>
            </a:avLst>
          </a:prstGeom>
          <a:solidFill>
            <a:srgbClr val="EAF0F8"/>
          </a:solidFill>
          <a:ln/>
        </p:spPr>
      </p:sp>
      <p:sp>
        <p:nvSpPr>
          <p:cNvPr id="8" name="Shape 6"/>
          <p:cNvSpPr/>
          <p:nvPr/>
        </p:nvSpPr>
        <p:spPr>
          <a:xfrm>
            <a:off x="777240" y="2834640"/>
            <a:ext cx="457200" cy="457200"/>
          </a:xfrm>
          <a:prstGeom prst="ellipse">
            <a:avLst/>
          </a:prstGeom>
          <a:solidFill>
            <a:srgbClr val="0B2A5B"/>
          </a:solidFill>
          <a:ln/>
        </p:spPr>
      </p:sp>
      <p:sp>
        <p:nvSpPr>
          <p:cNvPr id="9" name="Text 7"/>
          <p:cNvSpPr txBox="1"/>
          <p:nvPr/>
        </p:nvSpPr>
        <p:spPr>
          <a:xfrm>
            <a:off x="777240" y="283464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0" name="Text 8"/>
          <p:cNvSpPr txBox="1"/>
          <p:nvPr/>
        </p:nvSpPr>
        <p:spPr>
          <a:xfrm>
            <a:off x="1463040" y="2606040"/>
            <a:ext cx="5029200" cy="914400"/>
          </a:xfrm>
          <a:prstGeom prst="rect">
            <a:avLst/>
          </a:prstGeom>
          <a:noFill/>
          <a:ln/>
        </p:spPr>
        <p:txBody>
          <a:bodyPr wrap="square" lIns="0" tIns="0" rIns="0" bIns="0" rtlCol="0" anchor="ctr"/>
          <a:lstStyle/>
          <a:p>
            <a:pPr marL="0" indent="0">
              <a:buNone/>
            </a:pPr>
            <a:r>
              <a:rPr lang="en-US" sz="1700" dirty="0">
                <a:solidFill>
                  <a:schemeClr val="tx1"/>
                </a:solidFill>
              </a:rPr>
              <a:t>They may want to know how long a command takes to complete.</a:t>
            </a:r>
            <a:endParaRPr lang="en-US" sz="1700" dirty="0"/>
          </a:p>
        </p:txBody>
      </p:sp>
      <p:sp>
        <p:nvSpPr>
          <p:cNvPr id="11" name="Context card 3"/>
          <p:cNvSpPr/>
          <p:nvPr/>
        </p:nvSpPr>
        <p:spPr>
          <a:xfrm>
            <a:off x="548640" y="3794760"/>
            <a:ext cx="6126480" cy="914400"/>
          </a:xfrm>
          <a:prstGeom prst="roundRect">
            <a:avLst>
              <a:gd name="adj" fmla="val 8000"/>
            </a:avLst>
          </a:prstGeom>
          <a:solidFill>
            <a:srgbClr val="EAF0F8"/>
          </a:solidFill>
          <a:ln/>
        </p:spPr>
      </p:sp>
      <p:sp>
        <p:nvSpPr>
          <p:cNvPr id="12" name="Shape 10"/>
          <p:cNvSpPr/>
          <p:nvPr/>
        </p:nvSpPr>
        <p:spPr>
          <a:xfrm>
            <a:off x="777240" y="4023360"/>
            <a:ext cx="457200" cy="457200"/>
          </a:xfrm>
          <a:prstGeom prst="ellipse">
            <a:avLst/>
          </a:prstGeom>
          <a:solidFill>
            <a:srgbClr val="0B2A5B"/>
          </a:solidFill>
          <a:ln/>
        </p:spPr>
      </p:sp>
      <p:sp>
        <p:nvSpPr>
          <p:cNvPr id="13" name="Text 11"/>
          <p:cNvSpPr txBox="1"/>
          <p:nvPr/>
        </p:nvSpPr>
        <p:spPr>
          <a:xfrm>
            <a:off x="777240" y="402336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4" name="Text 12"/>
          <p:cNvSpPr txBox="1"/>
          <p:nvPr/>
        </p:nvSpPr>
        <p:spPr>
          <a:xfrm>
            <a:off x="1463040" y="3794760"/>
            <a:ext cx="5029200" cy="914400"/>
          </a:xfrm>
          <a:prstGeom prst="rect">
            <a:avLst/>
          </a:prstGeom>
          <a:noFill/>
          <a:ln/>
        </p:spPr>
        <p:txBody>
          <a:bodyPr wrap="square" lIns="0" tIns="0" rIns="0" bIns="0" rtlCol="0" anchor="ctr"/>
          <a:lstStyle/>
          <a:p>
            <a:pPr marL="0" indent="0">
              <a:buNone/>
            </a:pPr>
            <a:r>
              <a:rPr lang="en-US" sz="1700" dirty="0">
                <a:solidFill>
                  <a:schemeClr val="tx1"/>
                </a:solidFill>
              </a:rPr>
              <a:t>Execution time alone does not give the full picture of resource usage.</a:t>
            </a:r>
            <a:endParaRPr lang="en-US" sz="1700" dirty="0"/>
          </a:p>
        </p:txBody>
      </p:sp>
      <p:sp>
        <p:nvSpPr>
          <p:cNvPr id="15" name="Context card 4"/>
          <p:cNvSpPr/>
          <p:nvPr/>
        </p:nvSpPr>
        <p:spPr>
          <a:xfrm>
            <a:off x="548640" y="4983480"/>
            <a:ext cx="6126480" cy="914400"/>
          </a:xfrm>
          <a:prstGeom prst="roundRect">
            <a:avLst>
              <a:gd name="adj" fmla="val 8000"/>
            </a:avLst>
          </a:prstGeom>
          <a:solidFill>
            <a:srgbClr val="EAF0F8"/>
          </a:solidFill>
          <a:ln/>
        </p:spPr>
      </p:sp>
      <p:sp>
        <p:nvSpPr>
          <p:cNvPr id="16" name="Shape 14"/>
          <p:cNvSpPr/>
          <p:nvPr/>
        </p:nvSpPr>
        <p:spPr>
          <a:xfrm>
            <a:off x="777240" y="5212080"/>
            <a:ext cx="457200" cy="457200"/>
          </a:xfrm>
          <a:prstGeom prst="ellipse">
            <a:avLst/>
          </a:prstGeom>
          <a:solidFill>
            <a:srgbClr val="0B2A5B"/>
          </a:solidFill>
          <a:ln/>
        </p:spPr>
      </p:sp>
      <p:sp>
        <p:nvSpPr>
          <p:cNvPr id="17" name="Text 15"/>
          <p:cNvSpPr txBox="1"/>
          <p:nvPr/>
        </p:nvSpPr>
        <p:spPr>
          <a:xfrm>
            <a:off x="777240" y="521208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18" name="Text 16"/>
          <p:cNvSpPr txBox="1"/>
          <p:nvPr/>
        </p:nvSpPr>
        <p:spPr>
          <a:xfrm>
            <a:off x="1463040" y="4983480"/>
            <a:ext cx="5029200" cy="914400"/>
          </a:xfrm>
          <a:prstGeom prst="rect">
            <a:avLst/>
          </a:prstGeom>
          <a:noFill/>
          <a:ln/>
        </p:spPr>
        <p:txBody>
          <a:bodyPr wrap="square" lIns="0" tIns="0" rIns="0" bIns="0" rtlCol="0" anchor="ctr"/>
          <a:lstStyle/>
          <a:p>
            <a:pPr marL="0" indent="0">
              <a:buNone/>
            </a:pPr>
            <a:r>
              <a:rPr lang="en-US" sz="1700" dirty="0">
                <a:solidFill>
                  <a:schemeClr val="tx1"/>
                </a:solidFill>
              </a:rPr>
              <a:t>A simple command-line profiler can collect time and process-resource data in one place.</a:t>
            </a:r>
            <a:endParaRPr lang="en-US" sz="1700" dirty="0"/>
          </a:p>
        </p:txBody>
      </p:sp>
      <p:sp>
        <p:nvSpPr>
          <p:cNvPr id="19" name="Problem card"/>
          <p:cNvSpPr/>
          <p:nvPr/>
        </p:nvSpPr>
        <p:spPr>
          <a:xfrm>
            <a:off x="7040880" y="1417320"/>
            <a:ext cx="4572000" cy="4480560"/>
          </a:xfrm>
          <a:prstGeom prst="roundRect">
            <a:avLst>
              <a:gd name="adj" fmla="val 1633"/>
            </a:avLst>
          </a:prstGeom>
          <a:solidFill>
            <a:srgbClr val="0B2A5B"/>
          </a:solidFill>
          <a:ln/>
        </p:spPr>
      </p:sp>
      <p:sp>
        <p:nvSpPr>
          <p:cNvPr id="20" name="Text 18"/>
          <p:cNvSpPr txBox="1"/>
          <p:nvPr/>
        </p:nvSpPr>
        <p:spPr>
          <a:xfrm>
            <a:off x="7360920" y="1691640"/>
            <a:ext cx="3931920" cy="274320"/>
          </a:xfrm>
          <a:prstGeom prst="rect">
            <a:avLst/>
          </a:prstGeom>
          <a:noFill/>
          <a:ln/>
        </p:spPr>
        <p:txBody>
          <a:bodyPr wrap="square" lIns="0" tIns="0" rIns="0" bIns="0" rtlCol="0" anchor="t"/>
          <a:lstStyle/>
          <a:p>
            <a:pPr marL="0" indent="0">
              <a:buNone/>
            </a:pPr>
            <a:r>
              <a:rPr lang="en-US" sz="1200" b="1" kern="0" spc="200" dirty="0">
                <a:solidFill>
                  <a:schemeClr val="accent2"/>
                </a:solidFill>
              </a:rPr>
              <a:t>PROBLEM STATEMENT</a:t>
            </a:r>
            <a:endParaRPr lang="en-US" sz="1200" dirty="0"/>
          </a:p>
        </p:txBody>
      </p:sp>
      <p:sp>
        <p:nvSpPr>
          <p:cNvPr id="21" name="Text 19"/>
          <p:cNvSpPr txBox="1"/>
          <p:nvPr/>
        </p:nvSpPr>
        <p:spPr>
          <a:xfrm>
            <a:off x="7360920" y="2103120"/>
            <a:ext cx="3931920" cy="2103120"/>
          </a:xfrm>
          <a:prstGeom prst="rect">
            <a:avLst/>
          </a:prstGeom>
          <a:noFill/>
          <a:ln/>
        </p:spPr>
        <p:txBody>
          <a:bodyPr wrap="square" lIns="0" tIns="0" rIns="0" bIns="0" rtlCol="0" anchor="t"/>
          <a:lstStyle/>
          <a:p>
            <a:pPr marL="0" indent="0">
              <a:buNone/>
            </a:pPr>
            <a:r>
              <a:rPr lang="en-US" sz="2000" dirty="0">
                <a:solidFill>
                  <a:schemeClr val="bg1"/>
                </a:solidFill>
              </a:rPr>
              <a:t>Develop a Linux-based tool that executes commands and reports their elapsed execution time, CPU usage, maximum memory usage, and exit status.</a:t>
            </a:r>
            <a:endParaRPr lang="en-US" sz="2000" dirty="0"/>
          </a:p>
        </p:txBody>
      </p:sp>
      <p:sp>
        <p:nvSpPr>
          <p:cNvPr id="22" name="Shape 20"/>
          <p:cNvSpPr/>
          <p:nvPr/>
        </p:nvSpPr>
        <p:spPr>
          <a:xfrm>
            <a:off x="7360920" y="4434840"/>
            <a:ext cx="1874520" cy="457200"/>
          </a:xfrm>
          <a:prstGeom prst="roundRect">
            <a:avLst>
              <a:gd name="adj" fmla="val 16000"/>
            </a:avLst>
          </a:prstGeom>
          <a:solidFill>
            <a:srgbClr val="1F4E9E"/>
          </a:solidFill>
          <a:ln w="12700">
            <a:solidFill>
              <a:srgbClr val="7FA6E3"/>
            </a:solidFill>
            <a:prstDash val="solid"/>
          </a:ln>
        </p:spPr>
      </p:sp>
      <p:sp>
        <p:nvSpPr>
          <p:cNvPr id="23" name="Text 21"/>
          <p:cNvSpPr txBox="1"/>
          <p:nvPr/>
        </p:nvSpPr>
        <p:spPr>
          <a:xfrm>
            <a:off x="7360920" y="4434840"/>
            <a:ext cx="1874520" cy="457200"/>
          </a:xfrm>
          <a:prstGeom prst="rect">
            <a:avLst/>
          </a:prstGeom>
          <a:noFill/>
          <a:ln/>
        </p:spPr>
        <p:txBody>
          <a:bodyPr wrap="square" lIns="0" tIns="0" rIns="0" bIns="0" rtlCol="0" anchor="ctr"/>
          <a:lstStyle/>
          <a:p>
            <a:pPr marL="0" indent="0" algn="ctr">
              <a:buNone/>
            </a:pPr>
            <a:r>
              <a:rPr lang="en-US" sz="1400" b="1" dirty="0">
                <a:solidFill>
                  <a:schemeClr val="bg1"/>
                </a:solidFill>
              </a:rPr>
              <a:t>Elapsed time</a:t>
            </a:r>
            <a:endParaRPr lang="en-US" sz="1400" dirty="0"/>
          </a:p>
        </p:txBody>
      </p:sp>
      <p:sp>
        <p:nvSpPr>
          <p:cNvPr id="24" name="Shape 22"/>
          <p:cNvSpPr/>
          <p:nvPr/>
        </p:nvSpPr>
        <p:spPr>
          <a:xfrm>
            <a:off x="9372600" y="4434840"/>
            <a:ext cx="1874520" cy="457200"/>
          </a:xfrm>
          <a:prstGeom prst="roundRect">
            <a:avLst>
              <a:gd name="adj" fmla="val 16000"/>
            </a:avLst>
          </a:prstGeom>
          <a:solidFill>
            <a:srgbClr val="1F4E9E"/>
          </a:solidFill>
          <a:ln w="12700">
            <a:solidFill>
              <a:srgbClr val="7FA6E3"/>
            </a:solidFill>
            <a:prstDash val="solid"/>
          </a:ln>
        </p:spPr>
      </p:sp>
      <p:sp>
        <p:nvSpPr>
          <p:cNvPr id="25" name="Text 23"/>
          <p:cNvSpPr txBox="1"/>
          <p:nvPr/>
        </p:nvSpPr>
        <p:spPr>
          <a:xfrm>
            <a:off x="9372600" y="4434840"/>
            <a:ext cx="1874520" cy="457200"/>
          </a:xfrm>
          <a:prstGeom prst="rect">
            <a:avLst/>
          </a:prstGeom>
          <a:noFill/>
          <a:ln/>
        </p:spPr>
        <p:txBody>
          <a:bodyPr wrap="square" lIns="0" tIns="0" rIns="0" bIns="0" rtlCol="0" anchor="ctr"/>
          <a:lstStyle/>
          <a:p>
            <a:pPr marL="0" indent="0" algn="ctr">
              <a:buNone/>
            </a:pPr>
            <a:r>
              <a:rPr lang="en-US" sz="1400" b="1" dirty="0">
                <a:solidFill>
                  <a:schemeClr val="bg1"/>
                </a:solidFill>
              </a:rPr>
              <a:t>CPU usage</a:t>
            </a:r>
            <a:endParaRPr lang="en-US" sz="1400" dirty="0"/>
          </a:p>
        </p:txBody>
      </p:sp>
      <p:sp>
        <p:nvSpPr>
          <p:cNvPr id="26" name="Shape 24"/>
          <p:cNvSpPr/>
          <p:nvPr/>
        </p:nvSpPr>
        <p:spPr>
          <a:xfrm>
            <a:off x="7360920" y="5074920"/>
            <a:ext cx="1874520" cy="457200"/>
          </a:xfrm>
          <a:prstGeom prst="roundRect">
            <a:avLst>
              <a:gd name="adj" fmla="val 16000"/>
            </a:avLst>
          </a:prstGeom>
          <a:solidFill>
            <a:srgbClr val="1F4E9E"/>
          </a:solidFill>
          <a:ln w="12700">
            <a:solidFill>
              <a:srgbClr val="7FA6E3"/>
            </a:solidFill>
            <a:prstDash val="solid"/>
          </a:ln>
        </p:spPr>
      </p:sp>
      <p:sp>
        <p:nvSpPr>
          <p:cNvPr id="27" name="Text 25"/>
          <p:cNvSpPr txBox="1"/>
          <p:nvPr/>
        </p:nvSpPr>
        <p:spPr>
          <a:xfrm>
            <a:off x="7360920" y="5074920"/>
            <a:ext cx="1874520" cy="457200"/>
          </a:xfrm>
          <a:prstGeom prst="rect">
            <a:avLst/>
          </a:prstGeom>
          <a:noFill/>
          <a:ln/>
        </p:spPr>
        <p:txBody>
          <a:bodyPr wrap="square" lIns="0" tIns="0" rIns="0" bIns="0" rtlCol="0" anchor="ctr"/>
          <a:lstStyle/>
          <a:p>
            <a:pPr marL="0" indent="0" algn="ctr">
              <a:buNone/>
            </a:pPr>
            <a:r>
              <a:rPr lang="en-US" sz="1400" b="1" dirty="0">
                <a:solidFill>
                  <a:schemeClr val="bg1"/>
                </a:solidFill>
              </a:rPr>
              <a:t>Maximum memory</a:t>
            </a:r>
            <a:endParaRPr lang="en-US" sz="1400" dirty="0"/>
          </a:p>
        </p:txBody>
      </p:sp>
      <p:sp>
        <p:nvSpPr>
          <p:cNvPr id="28" name="Shape 26"/>
          <p:cNvSpPr/>
          <p:nvPr/>
        </p:nvSpPr>
        <p:spPr>
          <a:xfrm>
            <a:off x="9372600" y="5074920"/>
            <a:ext cx="1874520" cy="457200"/>
          </a:xfrm>
          <a:prstGeom prst="roundRect">
            <a:avLst>
              <a:gd name="adj" fmla="val 16000"/>
            </a:avLst>
          </a:prstGeom>
          <a:solidFill>
            <a:srgbClr val="1F4E9E"/>
          </a:solidFill>
          <a:ln w="12700">
            <a:solidFill>
              <a:srgbClr val="7FA6E3"/>
            </a:solidFill>
            <a:prstDash val="solid"/>
          </a:ln>
        </p:spPr>
      </p:sp>
      <p:sp>
        <p:nvSpPr>
          <p:cNvPr id="29" name="Text 27"/>
          <p:cNvSpPr txBox="1"/>
          <p:nvPr/>
        </p:nvSpPr>
        <p:spPr>
          <a:xfrm>
            <a:off x="9372600" y="5074920"/>
            <a:ext cx="1874520" cy="457200"/>
          </a:xfrm>
          <a:prstGeom prst="rect">
            <a:avLst/>
          </a:prstGeom>
          <a:noFill/>
          <a:ln/>
        </p:spPr>
        <p:txBody>
          <a:bodyPr wrap="square" lIns="0" tIns="0" rIns="0" bIns="0" rtlCol="0" anchor="ctr"/>
          <a:lstStyle/>
          <a:p>
            <a:pPr marL="0" indent="0" algn="ctr">
              <a:buNone/>
            </a:pPr>
            <a:r>
              <a:rPr lang="en-US" sz="1400" b="1" dirty="0">
                <a:solidFill>
                  <a:schemeClr val="bg1"/>
                </a:solidFill>
              </a:rPr>
              <a:t>Exit status</a:t>
            </a:r>
            <a:endParaRPr lang="en-US" sz="1400" dirty="0"/>
          </a:p>
        </p:txBody>
      </p:sp>
      <p:sp>
        <p:nvSpPr>
          <p:cNvPr id="30"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68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400" b="1" dirty="0">
                <a:solidFill>
                  <a:schemeClr val="tx2"/>
                </a:solidFill>
              </a:rPr>
              <a:t>Project Objectives and Solution</a:t>
            </a:r>
            <a:endParaRPr lang="en-US" sz="3400" dirty="0"/>
          </a:p>
        </p:txBody>
      </p:sp>
      <p:sp>
        <p:nvSpPr>
          <p:cNvPr id="3" name="Text 1"/>
          <p:cNvSpPr txBox="1"/>
          <p:nvPr/>
        </p:nvSpPr>
        <p:spPr>
          <a:xfrm>
            <a:off x="548640" y="1280160"/>
            <a:ext cx="5486400" cy="365760"/>
          </a:xfrm>
          <a:prstGeom prst="rect">
            <a:avLst/>
          </a:prstGeom>
          <a:noFill/>
          <a:ln/>
        </p:spPr>
        <p:txBody>
          <a:bodyPr wrap="square" lIns="0" tIns="0" rIns="0" bIns="0" rtlCol="0" anchor="t"/>
          <a:lstStyle/>
          <a:p>
            <a:pPr marL="0" indent="0">
              <a:buNone/>
            </a:pPr>
            <a:r>
              <a:rPr lang="en-US" sz="2000" b="1" dirty="0">
                <a:solidFill>
                  <a:schemeClr val="tx2"/>
                </a:solidFill>
              </a:rPr>
              <a:t>Objectives</a:t>
            </a:r>
            <a:endParaRPr lang="en-US" sz="2000" dirty="0"/>
          </a:p>
        </p:txBody>
      </p:sp>
      <p:sp>
        <p:nvSpPr>
          <p:cNvPr id="4" name="Objective 1"/>
          <p:cNvSpPr/>
          <p:nvPr/>
        </p:nvSpPr>
        <p:spPr>
          <a:xfrm>
            <a:off x="548640" y="1783080"/>
            <a:ext cx="6400800" cy="621792"/>
          </a:xfrm>
          <a:prstGeom prst="roundRect">
            <a:avLst>
              <a:gd name="adj" fmla="val 11765"/>
            </a:avLst>
          </a:prstGeom>
          <a:solidFill>
            <a:srgbClr val="EAF0F8"/>
          </a:solidFill>
          <a:ln/>
        </p:spPr>
      </p:sp>
      <p:sp>
        <p:nvSpPr>
          <p:cNvPr id="5" name="Shape 3"/>
          <p:cNvSpPr/>
          <p:nvPr/>
        </p:nvSpPr>
        <p:spPr>
          <a:xfrm>
            <a:off x="685800" y="1892808"/>
            <a:ext cx="402336" cy="402336"/>
          </a:xfrm>
          <a:prstGeom prst="ellipse">
            <a:avLst/>
          </a:prstGeom>
          <a:solidFill>
            <a:srgbClr val="0B2A5B"/>
          </a:solidFill>
          <a:ln/>
        </p:spPr>
      </p:sp>
      <p:sp>
        <p:nvSpPr>
          <p:cNvPr id="6" name="Text 4"/>
          <p:cNvSpPr txBox="1"/>
          <p:nvPr/>
        </p:nvSpPr>
        <p:spPr>
          <a:xfrm>
            <a:off x="685800" y="1892808"/>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7" name="Text 5"/>
          <p:cNvSpPr txBox="1"/>
          <p:nvPr/>
        </p:nvSpPr>
        <p:spPr>
          <a:xfrm>
            <a:off x="1280160" y="1783080"/>
            <a:ext cx="5577840" cy="621792"/>
          </a:xfrm>
          <a:prstGeom prst="rect">
            <a:avLst/>
          </a:prstGeom>
          <a:noFill/>
          <a:ln/>
        </p:spPr>
        <p:txBody>
          <a:bodyPr wrap="square" lIns="0" tIns="0" rIns="0" bIns="0" rtlCol="0" anchor="ctr"/>
          <a:lstStyle/>
          <a:p>
            <a:pPr marL="0" indent="0">
              <a:buNone/>
            </a:pPr>
            <a:r>
              <a:rPr lang="en-US" sz="1600" dirty="0">
                <a:solidFill>
                  <a:schemeClr val="tx1"/>
                </a:solidFill>
              </a:rPr>
              <a:t>Measure command execution time.</a:t>
            </a:r>
            <a:endParaRPr lang="en-US" sz="1600" dirty="0"/>
          </a:p>
        </p:txBody>
      </p:sp>
      <p:sp>
        <p:nvSpPr>
          <p:cNvPr id="8" name="Objective 2"/>
          <p:cNvSpPr/>
          <p:nvPr/>
        </p:nvSpPr>
        <p:spPr>
          <a:xfrm>
            <a:off x="548640" y="2514600"/>
            <a:ext cx="6400800" cy="621792"/>
          </a:xfrm>
          <a:prstGeom prst="roundRect">
            <a:avLst>
              <a:gd name="adj" fmla="val 11765"/>
            </a:avLst>
          </a:prstGeom>
          <a:solidFill>
            <a:srgbClr val="EAF0F8"/>
          </a:solidFill>
          <a:ln/>
        </p:spPr>
      </p:sp>
      <p:sp>
        <p:nvSpPr>
          <p:cNvPr id="9" name="Shape 7"/>
          <p:cNvSpPr/>
          <p:nvPr/>
        </p:nvSpPr>
        <p:spPr>
          <a:xfrm>
            <a:off x="685800" y="2624328"/>
            <a:ext cx="402336" cy="402336"/>
          </a:xfrm>
          <a:prstGeom prst="ellipse">
            <a:avLst/>
          </a:prstGeom>
          <a:solidFill>
            <a:srgbClr val="0B2A5B"/>
          </a:solidFill>
          <a:ln/>
        </p:spPr>
      </p:sp>
      <p:sp>
        <p:nvSpPr>
          <p:cNvPr id="10" name="Text 8"/>
          <p:cNvSpPr txBox="1"/>
          <p:nvPr/>
        </p:nvSpPr>
        <p:spPr>
          <a:xfrm>
            <a:off x="685800" y="2624328"/>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1" name="Text 9"/>
          <p:cNvSpPr txBox="1"/>
          <p:nvPr/>
        </p:nvSpPr>
        <p:spPr>
          <a:xfrm>
            <a:off x="1280160" y="2514600"/>
            <a:ext cx="5577840" cy="621792"/>
          </a:xfrm>
          <a:prstGeom prst="rect">
            <a:avLst/>
          </a:prstGeom>
          <a:noFill/>
          <a:ln/>
        </p:spPr>
        <p:txBody>
          <a:bodyPr wrap="square" lIns="0" tIns="0" rIns="0" bIns="0" rtlCol="0" anchor="ctr"/>
          <a:lstStyle/>
          <a:p>
            <a:pPr marL="0" indent="0">
              <a:buNone/>
            </a:pPr>
            <a:r>
              <a:rPr lang="en-US" sz="1600" dirty="0">
                <a:solidFill>
                  <a:schemeClr val="tx1"/>
                </a:solidFill>
              </a:rPr>
              <a:t>Collect user CPU time and system CPU time.</a:t>
            </a:r>
            <a:endParaRPr lang="en-US" sz="1600" dirty="0"/>
          </a:p>
        </p:txBody>
      </p:sp>
      <p:sp>
        <p:nvSpPr>
          <p:cNvPr id="12" name="Objective 3"/>
          <p:cNvSpPr/>
          <p:nvPr/>
        </p:nvSpPr>
        <p:spPr>
          <a:xfrm>
            <a:off x="548640" y="3246120"/>
            <a:ext cx="6400800" cy="621792"/>
          </a:xfrm>
          <a:prstGeom prst="roundRect">
            <a:avLst>
              <a:gd name="adj" fmla="val 11765"/>
            </a:avLst>
          </a:prstGeom>
          <a:solidFill>
            <a:srgbClr val="EAF0F8"/>
          </a:solidFill>
          <a:ln/>
        </p:spPr>
      </p:sp>
      <p:sp>
        <p:nvSpPr>
          <p:cNvPr id="13" name="Shape 11"/>
          <p:cNvSpPr/>
          <p:nvPr/>
        </p:nvSpPr>
        <p:spPr>
          <a:xfrm>
            <a:off x="685800" y="3355848"/>
            <a:ext cx="402336" cy="402336"/>
          </a:xfrm>
          <a:prstGeom prst="ellipse">
            <a:avLst/>
          </a:prstGeom>
          <a:solidFill>
            <a:srgbClr val="0B2A5B"/>
          </a:solidFill>
          <a:ln/>
        </p:spPr>
      </p:sp>
      <p:sp>
        <p:nvSpPr>
          <p:cNvPr id="14" name="Text 12"/>
          <p:cNvSpPr txBox="1"/>
          <p:nvPr/>
        </p:nvSpPr>
        <p:spPr>
          <a:xfrm>
            <a:off x="685800" y="3355848"/>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5" name="Text 13"/>
          <p:cNvSpPr txBox="1"/>
          <p:nvPr/>
        </p:nvSpPr>
        <p:spPr>
          <a:xfrm>
            <a:off x="1280160" y="3246120"/>
            <a:ext cx="5577840" cy="621792"/>
          </a:xfrm>
          <a:prstGeom prst="rect">
            <a:avLst/>
          </a:prstGeom>
          <a:noFill/>
          <a:ln/>
        </p:spPr>
        <p:txBody>
          <a:bodyPr wrap="square" lIns="0" tIns="0" rIns="0" bIns="0" rtlCol="0" anchor="ctr"/>
          <a:lstStyle/>
          <a:p>
            <a:pPr marL="0" indent="0">
              <a:buNone/>
            </a:pPr>
            <a:r>
              <a:rPr lang="en-US" sz="1600" dirty="0">
                <a:solidFill>
                  <a:schemeClr val="tx1"/>
                </a:solidFill>
              </a:rPr>
              <a:t>Report maximum resident set size.</a:t>
            </a:r>
            <a:endParaRPr lang="en-US" sz="1600" dirty="0"/>
          </a:p>
        </p:txBody>
      </p:sp>
      <p:sp>
        <p:nvSpPr>
          <p:cNvPr id="16" name="Objective 4"/>
          <p:cNvSpPr/>
          <p:nvPr/>
        </p:nvSpPr>
        <p:spPr>
          <a:xfrm>
            <a:off x="548640" y="3977640"/>
            <a:ext cx="6400800" cy="621792"/>
          </a:xfrm>
          <a:prstGeom prst="roundRect">
            <a:avLst>
              <a:gd name="adj" fmla="val 11765"/>
            </a:avLst>
          </a:prstGeom>
          <a:solidFill>
            <a:srgbClr val="EAF0F8"/>
          </a:solidFill>
          <a:ln/>
        </p:spPr>
      </p:sp>
      <p:sp>
        <p:nvSpPr>
          <p:cNvPr id="17" name="Shape 15"/>
          <p:cNvSpPr/>
          <p:nvPr/>
        </p:nvSpPr>
        <p:spPr>
          <a:xfrm>
            <a:off x="685800" y="4087368"/>
            <a:ext cx="402336" cy="402336"/>
          </a:xfrm>
          <a:prstGeom prst="ellipse">
            <a:avLst/>
          </a:prstGeom>
          <a:solidFill>
            <a:srgbClr val="0B2A5B"/>
          </a:solidFill>
          <a:ln/>
        </p:spPr>
      </p:sp>
      <p:sp>
        <p:nvSpPr>
          <p:cNvPr id="18" name="Text 16"/>
          <p:cNvSpPr txBox="1"/>
          <p:nvPr/>
        </p:nvSpPr>
        <p:spPr>
          <a:xfrm>
            <a:off x="685800" y="4087368"/>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19" name="Text 17"/>
          <p:cNvSpPr txBox="1"/>
          <p:nvPr/>
        </p:nvSpPr>
        <p:spPr>
          <a:xfrm>
            <a:off x="1280160" y="3977640"/>
            <a:ext cx="5577840" cy="621792"/>
          </a:xfrm>
          <a:prstGeom prst="rect">
            <a:avLst/>
          </a:prstGeom>
          <a:noFill/>
          <a:ln/>
        </p:spPr>
        <p:txBody>
          <a:bodyPr wrap="square" lIns="0" tIns="0" rIns="0" bIns="0" rtlCol="0" anchor="ctr"/>
          <a:lstStyle/>
          <a:p>
            <a:pPr marL="0" indent="0">
              <a:buNone/>
            </a:pPr>
            <a:r>
              <a:rPr lang="en-US" sz="1600" dirty="0">
                <a:solidFill>
                  <a:schemeClr val="tx1"/>
                </a:solidFill>
              </a:rPr>
              <a:t>Display command exit status.</a:t>
            </a:r>
            <a:endParaRPr lang="en-US" sz="1600" dirty="0"/>
          </a:p>
        </p:txBody>
      </p:sp>
      <p:sp>
        <p:nvSpPr>
          <p:cNvPr id="20" name="Objective 5"/>
          <p:cNvSpPr/>
          <p:nvPr/>
        </p:nvSpPr>
        <p:spPr>
          <a:xfrm>
            <a:off x="548640" y="4709160"/>
            <a:ext cx="6400800" cy="621792"/>
          </a:xfrm>
          <a:prstGeom prst="roundRect">
            <a:avLst>
              <a:gd name="adj" fmla="val 11765"/>
            </a:avLst>
          </a:prstGeom>
          <a:solidFill>
            <a:srgbClr val="EAF0F8"/>
          </a:solidFill>
          <a:ln/>
        </p:spPr>
      </p:sp>
      <p:sp>
        <p:nvSpPr>
          <p:cNvPr id="21" name="Shape 19"/>
          <p:cNvSpPr/>
          <p:nvPr/>
        </p:nvSpPr>
        <p:spPr>
          <a:xfrm>
            <a:off x="685800" y="4818888"/>
            <a:ext cx="402336" cy="402336"/>
          </a:xfrm>
          <a:prstGeom prst="ellipse">
            <a:avLst/>
          </a:prstGeom>
          <a:solidFill>
            <a:srgbClr val="0B2A5B"/>
          </a:solidFill>
          <a:ln/>
        </p:spPr>
      </p:sp>
      <p:sp>
        <p:nvSpPr>
          <p:cNvPr id="22" name="Text 20"/>
          <p:cNvSpPr txBox="1"/>
          <p:nvPr/>
        </p:nvSpPr>
        <p:spPr>
          <a:xfrm>
            <a:off x="685800" y="4818888"/>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rPr>
              <a:t>5</a:t>
            </a:r>
            <a:endParaRPr lang="en-US" sz="1400" dirty="0"/>
          </a:p>
        </p:txBody>
      </p:sp>
      <p:sp>
        <p:nvSpPr>
          <p:cNvPr id="23" name="Text 21"/>
          <p:cNvSpPr txBox="1"/>
          <p:nvPr/>
        </p:nvSpPr>
        <p:spPr>
          <a:xfrm>
            <a:off x="1280160" y="4709160"/>
            <a:ext cx="5577840" cy="621792"/>
          </a:xfrm>
          <a:prstGeom prst="rect">
            <a:avLst/>
          </a:prstGeom>
          <a:noFill/>
          <a:ln/>
        </p:spPr>
        <p:txBody>
          <a:bodyPr wrap="square" lIns="0" tIns="0" rIns="0" bIns="0" rtlCol="0" anchor="ctr"/>
          <a:lstStyle/>
          <a:p>
            <a:pPr marL="0" indent="0">
              <a:buNone/>
            </a:pPr>
            <a:r>
              <a:rPr lang="en-US" sz="1600" dirty="0">
                <a:solidFill>
                  <a:schemeClr val="tx1"/>
                </a:solidFill>
              </a:rPr>
              <a:t>Handle invalid commands and empty input.</a:t>
            </a:r>
            <a:endParaRPr lang="en-US" sz="1600" dirty="0"/>
          </a:p>
        </p:txBody>
      </p:sp>
      <p:sp>
        <p:nvSpPr>
          <p:cNvPr id="24" name="Objective 6"/>
          <p:cNvSpPr/>
          <p:nvPr/>
        </p:nvSpPr>
        <p:spPr>
          <a:xfrm>
            <a:off x="548640" y="5440680"/>
            <a:ext cx="6400800" cy="621792"/>
          </a:xfrm>
          <a:prstGeom prst="roundRect">
            <a:avLst>
              <a:gd name="adj" fmla="val 11765"/>
            </a:avLst>
          </a:prstGeom>
          <a:solidFill>
            <a:srgbClr val="EAF0F8"/>
          </a:solidFill>
          <a:ln/>
        </p:spPr>
      </p:sp>
      <p:sp>
        <p:nvSpPr>
          <p:cNvPr id="25" name="Shape 23"/>
          <p:cNvSpPr/>
          <p:nvPr/>
        </p:nvSpPr>
        <p:spPr>
          <a:xfrm>
            <a:off x="685800" y="5550408"/>
            <a:ext cx="402336" cy="402336"/>
          </a:xfrm>
          <a:prstGeom prst="ellipse">
            <a:avLst/>
          </a:prstGeom>
          <a:solidFill>
            <a:srgbClr val="0B2A5B"/>
          </a:solidFill>
          <a:ln/>
        </p:spPr>
      </p:sp>
      <p:sp>
        <p:nvSpPr>
          <p:cNvPr id="26" name="Text 24"/>
          <p:cNvSpPr txBox="1"/>
          <p:nvPr/>
        </p:nvSpPr>
        <p:spPr>
          <a:xfrm>
            <a:off x="685800" y="5550408"/>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rPr>
              <a:t>6</a:t>
            </a:r>
            <a:endParaRPr lang="en-US" sz="1400" dirty="0"/>
          </a:p>
        </p:txBody>
      </p:sp>
      <p:sp>
        <p:nvSpPr>
          <p:cNvPr id="27" name="Text 25"/>
          <p:cNvSpPr txBox="1"/>
          <p:nvPr/>
        </p:nvSpPr>
        <p:spPr>
          <a:xfrm>
            <a:off x="1280160" y="5440680"/>
            <a:ext cx="5577840" cy="621792"/>
          </a:xfrm>
          <a:prstGeom prst="rect">
            <a:avLst/>
          </a:prstGeom>
          <a:noFill/>
          <a:ln/>
        </p:spPr>
        <p:txBody>
          <a:bodyPr wrap="square" lIns="0" tIns="0" rIns="0" bIns="0" rtlCol="0" anchor="ctr"/>
          <a:lstStyle/>
          <a:p>
            <a:pPr marL="0" indent="0">
              <a:buNone/>
            </a:pPr>
            <a:r>
              <a:rPr lang="en-US" sz="1600" dirty="0">
                <a:solidFill>
                  <a:schemeClr val="tx1"/>
                </a:solidFill>
              </a:rPr>
              <a:t>Run multiple commands in one profiler session.</a:t>
            </a:r>
            <a:endParaRPr lang="en-US" sz="1600" dirty="0"/>
          </a:p>
        </p:txBody>
      </p:sp>
      <p:sp>
        <p:nvSpPr>
          <p:cNvPr id="28" name="Solution card"/>
          <p:cNvSpPr/>
          <p:nvPr/>
        </p:nvSpPr>
        <p:spPr>
          <a:xfrm>
            <a:off x="7315200" y="1280160"/>
            <a:ext cx="4297680" cy="4937760"/>
          </a:xfrm>
          <a:prstGeom prst="roundRect">
            <a:avLst>
              <a:gd name="adj" fmla="val 1702"/>
            </a:avLst>
          </a:prstGeom>
          <a:solidFill>
            <a:srgbClr val="0B2A5B"/>
          </a:solidFill>
          <a:ln/>
        </p:spPr>
      </p:sp>
      <p:sp>
        <p:nvSpPr>
          <p:cNvPr id="29" name="Text 27"/>
          <p:cNvSpPr txBox="1"/>
          <p:nvPr/>
        </p:nvSpPr>
        <p:spPr>
          <a:xfrm>
            <a:off x="7589520" y="1463040"/>
            <a:ext cx="3749040" cy="365760"/>
          </a:xfrm>
          <a:prstGeom prst="rect">
            <a:avLst/>
          </a:prstGeom>
          <a:noFill/>
          <a:ln/>
        </p:spPr>
        <p:txBody>
          <a:bodyPr wrap="square" lIns="0" tIns="0" rIns="0" bIns="0" rtlCol="0" anchor="t"/>
          <a:lstStyle/>
          <a:p>
            <a:pPr marL="0" indent="0">
              <a:buNone/>
            </a:pPr>
            <a:r>
              <a:rPr lang="en-US" sz="2000" b="1" dirty="0">
                <a:solidFill>
                  <a:schemeClr val="bg1"/>
                </a:solidFill>
              </a:rPr>
              <a:t>Proposed solution</a:t>
            </a:r>
            <a:endParaRPr lang="en-US" sz="2000" dirty="0"/>
          </a:p>
        </p:txBody>
      </p:sp>
      <p:sp>
        <p:nvSpPr>
          <p:cNvPr id="30" name="Shape 28"/>
          <p:cNvSpPr/>
          <p:nvPr/>
        </p:nvSpPr>
        <p:spPr>
          <a:xfrm>
            <a:off x="7818120" y="2011680"/>
            <a:ext cx="3291840" cy="777240"/>
          </a:xfrm>
          <a:prstGeom prst="roundRect">
            <a:avLst>
              <a:gd name="adj" fmla="val 9412"/>
            </a:avLst>
          </a:prstGeom>
          <a:solidFill>
            <a:srgbClr val="FFFFFF"/>
          </a:solidFill>
          <a:ln w="12700">
            <a:solidFill>
              <a:srgbClr val="7FA6E3"/>
            </a:solidFill>
            <a:prstDash val="solid"/>
          </a:ln>
        </p:spPr>
      </p:sp>
      <p:sp>
        <p:nvSpPr>
          <p:cNvPr id="31" name="Text 29"/>
          <p:cNvSpPr txBox="1"/>
          <p:nvPr/>
        </p:nvSpPr>
        <p:spPr>
          <a:xfrm>
            <a:off x="7818120" y="2011680"/>
            <a:ext cx="3291840" cy="777240"/>
          </a:xfrm>
          <a:prstGeom prst="rect">
            <a:avLst/>
          </a:prstGeom>
          <a:noFill/>
          <a:ln/>
        </p:spPr>
        <p:txBody>
          <a:bodyPr wrap="square" lIns="0" tIns="0" rIns="0" bIns="0" rtlCol="0" anchor="ctr"/>
          <a:lstStyle/>
          <a:p>
            <a:pPr marL="0" indent="0" algn="ctr">
              <a:buNone/>
            </a:pPr>
            <a:r>
              <a:rPr lang="en-US" sz="1500" b="1" dirty="0">
                <a:solidFill>
                  <a:srgbClr val="0B2A5B"/>
                </a:solidFill>
              </a:rPr>
              <a:t>Terminal</a:t>
            </a:r>
            <a:endParaRPr lang="en-US" sz="1500" dirty="0"/>
          </a:p>
          <a:p>
            <a:pPr marL="0" indent="0" algn="ctr">
              <a:buNone/>
            </a:pPr>
            <a:r>
              <a:rPr lang="en-US" sz="1200" dirty="0">
                <a:solidFill>
                  <a:srgbClr val="0B2A5B"/>
                </a:solidFill>
                <a:latin typeface="Courier New" pitchFamily="34" charset="0"/>
                <a:ea typeface="Courier New" pitchFamily="34" charset="-122"/>
                <a:cs typeface="Courier New" pitchFamily="34" charset="-120"/>
              </a:rPr>
              <a:t>$ ls -l</a:t>
            </a:r>
            <a:endParaRPr lang="en-US" sz="1500" dirty="0"/>
          </a:p>
        </p:txBody>
      </p:sp>
      <p:sp>
        <p:nvSpPr>
          <p:cNvPr id="32" name="Shape 30"/>
          <p:cNvSpPr/>
          <p:nvPr/>
        </p:nvSpPr>
        <p:spPr>
          <a:xfrm>
            <a:off x="9464040" y="2788920"/>
            <a:ext cx="0" cy="347472"/>
          </a:xfrm>
          <a:prstGeom prst="line">
            <a:avLst/>
          </a:prstGeom>
          <a:noFill/>
          <a:ln w="28575">
            <a:solidFill>
              <a:schemeClr val="accent2"/>
            </a:solidFill>
            <a:prstDash val="solid"/>
            <a:tailEnd type="triangle"/>
          </a:ln>
        </p:spPr>
      </p:sp>
      <p:sp>
        <p:nvSpPr>
          <p:cNvPr id="33" name="Shape 31"/>
          <p:cNvSpPr/>
          <p:nvPr/>
        </p:nvSpPr>
        <p:spPr>
          <a:xfrm>
            <a:off x="7818120" y="3182112"/>
            <a:ext cx="3291840" cy="777240"/>
          </a:xfrm>
          <a:prstGeom prst="roundRect">
            <a:avLst>
              <a:gd name="adj" fmla="val 9412"/>
            </a:avLst>
          </a:prstGeom>
          <a:solidFill>
            <a:srgbClr val="1F4E9E"/>
          </a:solidFill>
          <a:ln w="12700">
            <a:solidFill>
              <a:srgbClr val="7FA6E3"/>
            </a:solidFill>
            <a:prstDash val="solid"/>
          </a:ln>
        </p:spPr>
      </p:sp>
      <p:sp>
        <p:nvSpPr>
          <p:cNvPr id="34" name="Text 32"/>
          <p:cNvSpPr txBox="1"/>
          <p:nvPr/>
        </p:nvSpPr>
        <p:spPr>
          <a:xfrm>
            <a:off x="7818120" y="3182112"/>
            <a:ext cx="3291840" cy="777240"/>
          </a:xfrm>
          <a:prstGeom prst="rect">
            <a:avLst/>
          </a:prstGeom>
          <a:noFill/>
          <a:ln/>
        </p:spPr>
        <p:txBody>
          <a:bodyPr wrap="square" lIns="0" tIns="0" rIns="0" bIns="0" rtlCol="0" anchor="ctr"/>
          <a:lstStyle/>
          <a:p>
            <a:pPr marL="0" indent="0" algn="ctr">
              <a:buNone/>
            </a:pPr>
            <a:r>
              <a:rPr lang="en-US" sz="1500" b="1" dirty="0">
                <a:solidFill>
                  <a:srgbClr val="FFFFFF"/>
                </a:solidFill>
              </a:rPr>
              <a:t>Profiler (C program)</a:t>
            </a:r>
            <a:endParaRPr lang="en-US" sz="1500" dirty="0"/>
          </a:p>
          <a:p>
            <a:pPr marL="0" indent="0" algn="ctr">
              <a:buNone/>
            </a:pPr>
            <a:r>
              <a:rPr lang="en-US" sz="1200" dirty="0">
                <a:solidFill>
                  <a:srgbClr val="FFFFFF"/>
                </a:solidFill>
                <a:latin typeface="Courier New" pitchFamily="34" charset="0"/>
                <a:ea typeface="Courier New" pitchFamily="34" charset="-122"/>
                <a:cs typeface="Courier New" pitchFamily="34" charset="-120"/>
              </a:rPr>
              <a:t>fork() &gt; execvp() &gt; wait4()</a:t>
            </a:r>
            <a:endParaRPr lang="en-US" sz="1500" dirty="0"/>
          </a:p>
        </p:txBody>
      </p:sp>
      <p:sp>
        <p:nvSpPr>
          <p:cNvPr id="35" name="Shape 33"/>
          <p:cNvSpPr/>
          <p:nvPr/>
        </p:nvSpPr>
        <p:spPr>
          <a:xfrm>
            <a:off x="9464040" y="3959352"/>
            <a:ext cx="0" cy="347472"/>
          </a:xfrm>
          <a:prstGeom prst="line">
            <a:avLst/>
          </a:prstGeom>
          <a:noFill/>
          <a:ln w="28575">
            <a:solidFill>
              <a:schemeClr val="accent2"/>
            </a:solidFill>
            <a:prstDash val="solid"/>
            <a:tailEnd type="triangle"/>
          </a:ln>
        </p:spPr>
      </p:sp>
      <p:sp>
        <p:nvSpPr>
          <p:cNvPr id="36" name="Shape 34"/>
          <p:cNvSpPr/>
          <p:nvPr/>
        </p:nvSpPr>
        <p:spPr>
          <a:xfrm>
            <a:off x="7818120" y="4352544"/>
            <a:ext cx="3291840" cy="777240"/>
          </a:xfrm>
          <a:prstGeom prst="roundRect">
            <a:avLst>
              <a:gd name="adj" fmla="val 9412"/>
            </a:avLst>
          </a:prstGeom>
          <a:solidFill>
            <a:srgbClr val="FFFFFF"/>
          </a:solidFill>
          <a:ln w="12700">
            <a:solidFill>
              <a:srgbClr val="7FA6E3"/>
            </a:solidFill>
            <a:prstDash val="solid"/>
          </a:ln>
        </p:spPr>
      </p:sp>
      <p:sp>
        <p:nvSpPr>
          <p:cNvPr id="37" name="Text 35"/>
          <p:cNvSpPr txBox="1"/>
          <p:nvPr/>
        </p:nvSpPr>
        <p:spPr>
          <a:xfrm>
            <a:off x="7818120" y="4352544"/>
            <a:ext cx="3291840" cy="777240"/>
          </a:xfrm>
          <a:prstGeom prst="rect">
            <a:avLst/>
          </a:prstGeom>
          <a:noFill/>
          <a:ln/>
        </p:spPr>
        <p:txBody>
          <a:bodyPr wrap="square" lIns="0" tIns="0" rIns="0" bIns="0" rtlCol="0" anchor="ctr"/>
          <a:lstStyle/>
          <a:p>
            <a:pPr marL="0" indent="0" algn="ctr">
              <a:buNone/>
            </a:pPr>
            <a:r>
              <a:rPr lang="en-US" sz="1500" b="1" dirty="0">
                <a:solidFill>
                  <a:srgbClr val="0B2A5B"/>
                </a:solidFill>
              </a:rPr>
              <a:t>Execution report</a:t>
            </a:r>
            <a:endParaRPr lang="en-US" sz="1500" dirty="0"/>
          </a:p>
          <a:p>
            <a:pPr marL="0" indent="0" algn="ctr">
              <a:buNone/>
            </a:pPr>
            <a:r>
              <a:rPr lang="en-US" sz="1200" dirty="0">
                <a:solidFill>
                  <a:srgbClr val="0B2A5B"/>
                </a:solidFill>
              </a:rPr>
              <a:t>time, CPU, memory, exit status</a:t>
            </a:r>
            <a:endParaRPr lang="en-US" sz="1500" dirty="0"/>
          </a:p>
        </p:txBody>
      </p:sp>
      <p:sp>
        <p:nvSpPr>
          <p:cNvPr id="38" name="Text 36"/>
          <p:cNvSpPr txBox="1"/>
          <p:nvPr/>
        </p:nvSpPr>
        <p:spPr>
          <a:xfrm>
            <a:off x="7589520" y="5303520"/>
            <a:ext cx="3749040" cy="822960"/>
          </a:xfrm>
          <a:prstGeom prst="rect">
            <a:avLst/>
          </a:prstGeom>
          <a:noFill/>
          <a:ln/>
        </p:spPr>
        <p:txBody>
          <a:bodyPr wrap="square" lIns="0" tIns="0" rIns="0" bIns="0" rtlCol="0" anchor="t"/>
          <a:lstStyle/>
          <a:p>
            <a:pPr marL="0" indent="0">
              <a:buNone/>
            </a:pPr>
            <a:r>
              <a:rPr lang="en-US" sz="1300" dirty="0">
                <a:solidFill>
                  <a:schemeClr val="accent6"/>
                </a:solidFill>
              </a:rPr>
              <a:t>A C program creates a child process, runs the command, waits for it, collects timing and resource data, then prints a report.</a:t>
            </a:r>
            <a:endParaRPr lang="en-US" sz="1300" dirty="0"/>
          </a:p>
        </p:txBody>
      </p:sp>
      <p:sp>
        <p:nvSpPr>
          <p:cNvPr id="39"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685"/>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400" b="1" dirty="0">
                <a:solidFill>
                  <a:schemeClr val="tx2"/>
                </a:solidFill>
              </a:rPr>
              <a:t>Technologies and Tools</a:t>
            </a:r>
            <a:endParaRPr lang="en-US" sz="3400" dirty="0"/>
          </a:p>
        </p:txBody>
      </p:sp>
      <p:sp>
        <p:nvSpPr>
          <p:cNvPr id="3" name="Text 1"/>
          <p:cNvSpPr txBox="1"/>
          <p:nvPr/>
        </p:nvSpPr>
        <p:spPr>
          <a:xfrm>
            <a:off x="548640" y="1280160"/>
            <a:ext cx="5486400" cy="365760"/>
          </a:xfrm>
          <a:prstGeom prst="rect">
            <a:avLst/>
          </a:prstGeom>
          <a:noFill/>
          <a:ln/>
        </p:spPr>
        <p:txBody>
          <a:bodyPr wrap="square" lIns="0" tIns="0" rIns="0" bIns="0" rtlCol="0" anchor="t"/>
          <a:lstStyle/>
          <a:p>
            <a:pPr marL="0" indent="0">
              <a:buNone/>
            </a:pPr>
            <a:r>
              <a:rPr lang="en-US" sz="2000" b="1" dirty="0">
                <a:solidFill>
                  <a:schemeClr val="tx2"/>
                </a:solidFill>
              </a:rPr>
              <a:t>Tools</a:t>
            </a:r>
            <a:endParaRPr lang="en-US" sz="2000" dirty="0"/>
          </a:p>
        </p:txBody>
      </p:sp>
      <p:sp>
        <p:nvSpPr>
          <p:cNvPr id="4" name="Tool C"/>
          <p:cNvSpPr/>
          <p:nvPr/>
        </p:nvSpPr>
        <p:spPr>
          <a:xfrm>
            <a:off x="548640" y="1783080"/>
            <a:ext cx="2834640" cy="1234440"/>
          </a:xfrm>
          <a:prstGeom prst="roundRect">
            <a:avLst>
              <a:gd name="adj" fmla="val 5926"/>
            </a:avLst>
          </a:prstGeom>
          <a:solidFill>
            <a:srgbClr val="EAF0F8"/>
          </a:solidFill>
          <a:ln/>
        </p:spPr>
      </p:sp>
      <p:sp>
        <p:nvSpPr>
          <p:cNvPr id="5" name="Text 3"/>
          <p:cNvSpPr txBox="1"/>
          <p:nvPr/>
        </p:nvSpPr>
        <p:spPr>
          <a:xfrm>
            <a:off x="777240" y="1783080"/>
            <a:ext cx="2468880" cy="1234440"/>
          </a:xfrm>
          <a:prstGeom prst="rect">
            <a:avLst/>
          </a:prstGeom>
          <a:noFill/>
          <a:ln/>
        </p:spPr>
        <p:txBody>
          <a:bodyPr wrap="square" lIns="0" tIns="0" rIns="0" bIns="0" rtlCol="0" anchor="ctr"/>
          <a:lstStyle/>
          <a:p>
            <a:pPr marL="0" indent="0">
              <a:spcAft>
                <a:spcPts val="300"/>
              </a:spcAft>
              <a:buNone/>
            </a:pPr>
            <a:r>
              <a:rPr lang="en-US" sz="2000" b="1" dirty="0">
                <a:solidFill>
                  <a:schemeClr val="tx2"/>
                </a:solidFill>
              </a:rPr>
              <a:t>C</a:t>
            </a:r>
            <a:endParaRPr lang="en-US" sz="2000" dirty="0"/>
          </a:p>
          <a:p>
            <a:pPr marL="0" indent="0">
              <a:spcAft>
                <a:spcPts val="300"/>
              </a:spcAft>
              <a:buNone/>
            </a:pPr>
            <a:r>
              <a:rPr lang="en-US" sz="1400" dirty="0">
                <a:solidFill>
                  <a:schemeClr val="tx1"/>
                </a:solidFill>
              </a:rPr>
              <a:t>Program implementation</a:t>
            </a:r>
            <a:endParaRPr lang="en-US" sz="2000" dirty="0"/>
          </a:p>
        </p:txBody>
      </p:sp>
      <p:sp>
        <p:nvSpPr>
          <p:cNvPr id="6" name="Tool GCC"/>
          <p:cNvSpPr/>
          <p:nvPr/>
        </p:nvSpPr>
        <p:spPr>
          <a:xfrm>
            <a:off x="3611880" y="1783080"/>
            <a:ext cx="2834640" cy="1234440"/>
          </a:xfrm>
          <a:prstGeom prst="roundRect">
            <a:avLst>
              <a:gd name="adj" fmla="val 5926"/>
            </a:avLst>
          </a:prstGeom>
          <a:solidFill>
            <a:srgbClr val="EAF0F8"/>
          </a:solidFill>
          <a:ln/>
        </p:spPr>
      </p:sp>
      <p:sp>
        <p:nvSpPr>
          <p:cNvPr id="7" name="Text 5"/>
          <p:cNvSpPr txBox="1"/>
          <p:nvPr/>
        </p:nvSpPr>
        <p:spPr>
          <a:xfrm>
            <a:off x="3840480" y="1783080"/>
            <a:ext cx="2468880" cy="1234440"/>
          </a:xfrm>
          <a:prstGeom prst="rect">
            <a:avLst/>
          </a:prstGeom>
          <a:noFill/>
          <a:ln/>
        </p:spPr>
        <p:txBody>
          <a:bodyPr wrap="square" lIns="0" tIns="0" rIns="0" bIns="0" rtlCol="0" anchor="ctr"/>
          <a:lstStyle/>
          <a:p>
            <a:pPr marL="0" indent="0">
              <a:spcAft>
                <a:spcPts val="300"/>
              </a:spcAft>
              <a:buNone/>
            </a:pPr>
            <a:r>
              <a:rPr lang="en-US" sz="2000" b="1" dirty="0">
                <a:solidFill>
                  <a:schemeClr val="tx2"/>
                </a:solidFill>
              </a:rPr>
              <a:t>GCC</a:t>
            </a:r>
            <a:endParaRPr lang="en-US" sz="2000" dirty="0"/>
          </a:p>
          <a:p>
            <a:pPr marL="0" indent="0">
              <a:spcAft>
                <a:spcPts val="300"/>
              </a:spcAft>
              <a:buNone/>
            </a:pPr>
            <a:r>
              <a:rPr lang="en-US" sz="1400" dirty="0">
                <a:solidFill>
                  <a:schemeClr val="tx1"/>
                </a:solidFill>
              </a:rPr>
              <a:t>Compilation</a:t>
            </a:r>
            <a:endParaRPr lang="en-US" sz="2000" dirty="0"/>
          </a:p>
        </p:txBody>
      </p:sp>
      <p:sp>
        <p:nvSpPr>
          <p:cNvPr id="8" name="Tool Linux / Ubuntu"/>
          <p:cNvSpPr/>
          <p:nvPr/>
        </p:nvSpPr>
        <p:spPr>
          <a:xfrm>
            <a:off x="548640" y="3246120"/>
            <a:ext cx="2834640" cy="1234440"/>
          </a:xfrm>
          <a:prstGeom prst="roundRect">
            <a:avLst>
              <a:gd name="adj" fmla="val 5926"/>
            </a:avLst>
          </a:prstGeom>
          <a:solidFill>
            <a:srgbClr val="EAF0F8"/>
          </a:solidFill>
          <a:ln/>
        </p:spPr>
      </p:sp>
      <p:sp>
        <p:nvSpPr>
          <p:cNvPr id="9" name="Text 7"/>
          <p:cNvSpPr txBox="1"/>
          <p:nvPr/>
        </p:nvSpPr>
        <p:spPr>
          <a:xfrm>
            <a:off x="777240" y="3246120"/>
            <a:ext cx="2468880" cy="1234440"/>
          </a:xfrm>
          <a:prstGeom prst="rect">
            <a:avLst/>
          </a:prstGeom>
          <a:noFill/>
          <a:ln/>
        </p:spPr>
        <p:txBody>
          <a:bodyPr wrap="square" lIns="0" tIns="0" rIns="0" bIns="0" rtlCol="0" anchor="ctr"/>
          <a:lstStyle/>
          <a:p>
            <a:pPr marL="0" indent="0">
              <a:spcAft>
                <a:spcPts val="300"/>
              </a:spcAft>
              <a:buNone/>
            </a:pPr>
            <a:r>
              <a:rPr lang="en-US" sz="2000" b="1" dirty="0">
                <a:solidFill>
                  <a:schemeClr val="tx2"/>
                </a:solidFill>
              </a:rPr>
              <a:t>Linux / Ubuntu</a:t>
            </a:r>
            <a:endParaRPr lang="en-US" sz="2000" dirty="0"/>
          </a:p>
          <a:p>
            <a:pPr marL="0" indent="0">
              <a:spcAft>
                <a:spcPts val="300"/>
              </a:spcAft>
              <a:buNone/>
            </a:pPr>
            <a:r>
              <a:rPr lang="en-US" sz="1400" dirty="0">
                <a:solidFill>
                  <a:schemeClr val="tx1"/>
                </a:solidFill>
              </a:rPr>
              <a:t>Execution environment</a:t>
            </a:r>
            <a:endParaRPr lang="en-US" sz="2000" dirty="0"/>
          </a:p>
        </p:txBody>
      </p:sp>
      <p:sp>
        <p:nvSpPr>
          <p:cNvPr id="10" name="Tool Git"/>
          <p:cNvSpPr/>
          <p:nvPr/>
        </p:nvSpPr>
        <p:spPr>
          <a:xfrm>
            <a:off x="3611880" y="3246120"/>
            <a:ext cx="2834640" cy="1234440"/>
          </a:xfrm>
          <a:prstGeom prst="roundRect">
            <a:avLst>
              <a:gd name="adj" fmla="val 5926"/>
            </a:avLst>
          </a:prstGeom>
          <a:solidFill>
            <a:srgbClr val="EAF0F8"/>
          </a:solidFill>
          <a:ln/>
        </p:spPr>
      </p:sp>
      <p:sp>
        <p:nvSpPr>
          <p:cNvPr id="11" name="Text 9"/>
          <p:cNvSpPr txBox="1"/>
          <p:nvPr/>
        </p:nvSpPr>
        <p:spPr>
          <a:xfrm>
            <a:off x="3840480" y="3246120"/>
            <a:ext cx="2468880" cy="1234440"/>
          </a:xfrm>
          <a:prstGeom prst="rect">
            <a:avLst/>
          </a:prstGeom>
          <a:noFill/>
          <a:ln/>
        </p:spPr>
        <p:txBody>
          <a:bodyPr wrap="square" lIns="0" tIns="0" rIns="0" bIns="0" rtlCol="0" anchor="ctr"/>
          <a:lstStyle/>
          <a:p>
            <a:pPr marL="0" indent="0">
              <a:spcAft>
                <a:spcPts val="300"/>
              </a:spcAft>
              <a:buNone/>
            </a:pPr>
            <a:r>
              <a:rPr lang="en-US" sz="2000" b="1" dirty="0">
                <a:solidFill>
                  <a:schemeClr val="tx2"/>
                </a:solidFill>
              </a:rPr>
              <a:t>Git</a:t>
            </a:r>
            <a:endParaRPr lang="en-US" sz="2000" dirty="0"/>
          </a:p>
          <a:p>
            <a:pPr marL="0" indent="0">
              <a:spcAft>
                <a:spcPts val="300"/>
              </a:spcAft>
              <a:buNone/>
            </a:pPr>
            <a:r>
              <a:rPr lang="en-US" sz="1400" dirty="0">
                <a:solidFill>
                  <a:schemeClr val="tx1"/>
                </a:solidFill>
              </a:rPr>
              <a:t>Version control</a:t>
            </a:r>
            <a:endParaRPr lang="en-US" sz="2000" dirty="0"/>
          </a:p>
        </p:txBody>
      </p:sp>
      <p:sp>
        <p:nvSpPr>
          <p:cNvPr id="12" name="Tool WSL2"/>
          <p:cNvSpPr/>
          <p:nvPr/>
        </p:nvSpPr>
        <p:spPr>
          <a:xfrm>
            <a:off x="548640" y="4709160"/>
            <a:ext cx="2834640" cy="1234440"/>
          </a:xfrm>
          <a:prstGeom prst="roundRect">
            <a:avLst>
              <a:gd name="adj" fmla="val 5926"/>
            </a:avLst>
          </a:prstGeom>
          <a:solidFill>
            <a:srgbClr val="EAF0F8"/>
          </a:solidFill>
          <a:ln/>
        </p:spPr>
      </p:sp>
      <p:sp>
        <p:nvSpPr>
          <p:cNvPr id="13" name="Text 11"/>
          <p:cNvSpPr txBox="1"/>
          <p:nvPr/>
        </p:nvSpPr>
        <p:spPr>
          <a:xfrm>
            <a:off x="777240" y="4709160"/>
            <a:ext cx="2468880" cy="1234440"/>
          </a:xfrm>
          <a:prstGeom prst="rect">
            <a:avLst/>
          </a:prstGeom>
          <a:noFill/>
          <a:ln/>
        </p:spPr>
        <p:txBody>
          <a:bodyPr wrap="square" lIns="0" tIns="0" rIns="0" bIns="0" rtlCol="0" anchor="ctr"/>
          <a:lstStyle/>
          <a:p>
            <a:pPr marL="0" indent="0">
              <a:spcAft>
                <a:spcPts val="300"/>
              </a:spcAft>
              <a:buNone/>
            </a:pPr>
            <a:r>
              <a:rPr lang="en-US" sz="2000" b="1" dirty="0">
                <a:solidFill>
                  <a:schemeClr val="tx2"/>
                </a:solidFill>
              </a:rPr>
              <a:t>WSL2</a:t>
            </a:r>
            <a:endParaRPr lang="en-US" sz="2000" dirty="0"/>
          </a:p>
          <a:p>
            <a:pPr marL="0" indent="0">
              <a:spcAft>
                <a:spcPts val="300"/>
              </a:spcAft>
              <a:buNone/>
            </a:pPr>
            <a:r>
              <a:rPr lang="en-US" sz="1400" dirty="0">
                <a:solidFill>
                  <a:schemeClr val="tx1"/>
                </a:solidFill>
              </a:rPr>
              <a:t>Linux environment on Windows</a:t>
            </a:r>
            <a:endParaRPr lang="en-US" sz="2000" dirty="0"/>
          </a:p>
        </p:txBody>
      </p:sp>
      <p:sp>
        <p:nvSpPr>
          <p:cNvPr id="14" name="Tool GitHub"/>
          <p:cNvSpPr/>
          <p:nvPr/>
        </p:nvSpPr>
        <p:spPr>
          <a:xfrm>
            <a:off x="3611880" y="4709160"/>
            <a:ext cx="2834640" cy="1234440"/>
          </a:xfrm>
          <a:prstGeom prst="roundRect">
            <a:avLst>
              <a:gd name="adj" fmla="val 5926"/>
            </a:avLst>
          </a:prstGeom>
          <a:solidFill>
            <a:srgbClr val="EAF0F8"/>
          </a:solidFill>
          <a:ln/>
        </p:spPr>
      </p:sp>
      <p:sp>
        <p:nvSpPr>
          <p:cNvPr id="15" name="Text 13"/>
          <p:cNvSpPr txBox="1"/>
          <p:nvPr/>
        </p:nvSpPr>
        <p:spPr>
          <a:xfrm>
            <a:off x="3840480" y="4709160"/>
            <a:ext cx="2468880" cy="1234440"/>
          </a:xfrm>
          <a:prstGeom prst="rect">
            <a:avLst/>
          </a:prstGeom>
          <a:noFill/>
          <a:ln/>
        </p:spPr>
        <p:txBody>
          <a:bodyPr wrap="square" lIns="0" tIns="0" rIns="0" bIns="0" rtlCol="0" anchor="ctr"/>
          <a:lstStyle/>
          <a:p>
            <a:pPr marL="0" indent="0">
              <a:spcAft>
                <a:spcPts val="300"/>
              </a:spcAft>
              <a:buNone/>
            </a:pPr>
            <a:r>
              <a:rPr lang="en-US" sz="2000" b="1" dirty="0">
                <a:solidFill>
                  <a:schemeClr val="tx2"/>
                </a:solidFill>
              </a:rPr>
              <a:t>GitHub</a:t>
            </a:r>
            <a:endParaRPr lang="en-US" sz="2000" dirty="0"/>
          </a:p>
          <a:p>
            <a:pPr marL="0" indent="0">
              <a:spcAft>
                <a:spcPts val="300"/>
              </a:spcAft>
              <a:buNone/>
            </a:pPr>
            <a:r>
              <a:rPr lang="en-US" sz="1400" dirty="0">
                <a:solidFill>
                  <a:schemeClr val="tx1"/>
                </a:solidFill>
              </a:rPr>
              <a:t>Source-code hosting</a:t>
            </a:r>
            <a:endParaRPr lang="en-US" sz="2000" dirty="0"/>
          </a:p>
        </p:txBody>
      </p:sp>
      <p:sp>
        <p:nvSpPr>
          <p:cNvPr id="16" name="Text 14"/>
          <p:cNvSpPr txBox="1"/>
          <p:nvPr/>
        </p:nvSpPr>
        <p:spPr>
          <a:xfrm>
            <a:off x="6949440" y="1280160"/>
            <a:ext cx="4572000" cy="365760"/>
          </a:xfrm>
          <a:prstGeom prst="rect">
            <a:avLst/>
          </a:prstGeom>
          <a:noFill/>
          <a:ln/>
        </p:spPr>
        <p:txBody>
          <a:bodyPr wrap="square" lIns="0" tIns="0" rIns="0" bIns="0" rtlCol="0" anchor="t"/>
          <a:lstStyle/>
          <a:p>
            <a:pPr marL="0" indent="0">
              <a:buNone/>
            </a:pPr>
            <a:r>
              <a:rPr lang="en-US" sz="2000" b="1" dirty="0">
                <a:solidFill>
                  <a:schemeClr val="tx2"/>
                </a:solidFill>
              </a:rPr>
              <a:t>Important APIs</a:t>
            </a:r>
            <a:endParaRPr lang="en-US" sz="2000" dirty="0"/>
          </a:p>
        </p:txBody>
      </p:sp>
      <p:sp>
        <p:nvSpPr>
          <p:cNvPr id="17" name="API fork()"/>
          <p:cNvSpPr/>
          <p:nvPr/>
        </p:nvSpPr>
        <p:spPr>
          <a:xfrm>
            <a:off x="6949440" y="1783080"/>
            <a:ext cx="4663440" cy="960120"/>
          </a:xfrm>
          <a:prstGeom prst="roundRect">
            <a:avLst>
              <a:gd name="adj" fmla="val 7619"/>
            </a:avLst>
          </a:prstGeom>
          <a:solidFill>
            <a:srgbClr val="0B2A5B"/>
          </a:solidFill>
          <a:ln/>
        </p:spPr>
      </p:sp>
      <p:sp>
        <p:nvSpPr>
          <p:cNvPr id="18" name="Text 16"/>
          <p:cNvSpPr txBox="1"/>
          <p:nvPr/>
        </p:nvSpPr>
        <p:spPr>
          <a:xfrm>
            <a:off x="7178040" y="1783080"/>
            <a:ext cx="4297680" cy="960120"/>
          </a:xfrm>
          <a:prstGeom prst="rect">
            <a:avLst/>
          </a:prstGeom>
          <a:noFill/>
          <a:ln/>
        </p:spPr>
        <p:txBody>
          <a:bodyPr wrap="square" lIns="0" tIns="0" rIns="0" bIns="0" rtlCol="0" anchor="ctr"/>
          <a:lstStyle/>
          <a:p>
            <a:pPr marL="0" indent="0">
              <a:spcAft>
                <a:spcPts val="300"/>
              </a:spcAft>
              <a:buNone/>
            </a:pPr>
            <a:r>
              <a:rPr lang="en-US" sz="1500" b="1" dirty="0">
                <a:solidFill>
                  <a:schemeClr val="accent2"/>
                </a:solidFill>
                <a:latin typeface="Courier New" pitchFamily="34" charset="0"/>
                <a:ea typeface="Courier New" pitchFamily="34" charset="-122"/>
                <a:cs typeface="Courier New" pitchFamily="34" charset="-120"/>
              </a:rPr>
              <a:t>fork()</a:t>
            </a:r>
            <a:endParaRPr lang="en-US" sz="1500" dirty="0"/>
          </a:p>
          <a:p>
            <a:pPr marL="0" indent="0">
              <a:spcAft>
                <a:spcPts val="300"/>
              </a:spcAft>
              <a:buNone/>
            </a:pPr>
            <a:r>
              <a:rPr lang="en-US" sz="1400" dirty="0">
                <a:solidFill>
                  <a:schemeClr val="bg1"/>
                </a:solidFill>
              </a:rPr>
              <a:t>Creates a child process.</a:t>
            </a:r>
            <a:endParaRPr lang="en-US" sz="1500" dirty="0"/>
          </a:p>
        </p:txBody>
      </p:sp>
      <p:sp>
        <p:nvSpPr>
          <p:cNvPr id="19" name="API execvp()"/>
          <p:cNvSpPr/>
          <p:nvPr/>
        </p:nvSpPr>
        <p:spPr>
          <a:xfrm>
            <a:off x="6949440" y="2880360"/>
            <a:ext cx="4663440" cy="960120"/>
          </a:xfrm>
          <a:prstGeom prst="roundRect">
            <a:avLst>
              <a:gd name="adj" fmla="val 7619"/>
            </a:avLst>
          </a:prstGeom>
          <a:solidFill>
            <a:srgbClr val="0B2A5B"/>
          </a:solidFill>
          <a:ln/>
        </p:spPr>
      </p:sp>
      <p:sp>
        <p:nvSpPr>
          <p:cNvPr id="20" name="Text 18"/>
          <p:cNvSpPr txBox="1"/>
          <p:nvPr/>
        </p:nvSpPr>
        <p:spPr>
          <a:xfrm>
            <a:off x="7178040" y="2880360"/>
            <a:ext cx="4297680" cy="960120"/>
          </a:xfrm>
          <a:prstGeom prst="rect">
            <a:avLst/>
          </a:prstGeom>
          <a:noFill/>
          <a:ln/>
        </p:spPr>
        <p:txBody>
          <a:bodyPr wrap="square" lIns="0" tIns="0" rIns="0" bIns="0" rtlCol="0" anchor="ctr"/>
          <a:lstStyle/>
          <a:p>
            <a:pPr marL="0" indent="0">
              <a:spcAft>
                <a:spcPts val="300"/>
              </a:spcAft>
              <a:buNone/>
            </a:pPr>
            <a:r>
              <a:rPr lang="en-US" sz="1500" b="1" dirty="0">
                <a:solidFill>
                  <a:schemeClr val="accent2"/>
                </a:solidFill>
                <a:latin typeface="Courier New" pitchFamily="34" charset="0"/>
                <a:ea typeface="Courier New" pitchFamily="34" charset="-122"/>
                <a:cs typeface="Courier New" pitchFamily="34" charset="-120"/>
              </a:rPr>
              <a:t>execvp()</a:t>
            </a:r>
            <a:endParaRPr lang="en-US" sz="1500" dirty="0"/>
          </a:p>
          <a:p>
            <a:pPr marL="0" indent="0">
              <a:spcAft>
                <a:spcPts val="300"/>
              </a:spcAft>
              <a:buNone/>
            </a:pPr>
            <a:r>
              <a:rPr lang="en-US" sz="1400" dirty="0">
                <a:solidFill>
                  <a:schemeClr val="bg1"/>
                </a:solidFill>
              </a:rPr>
              <a:t>Executes the requested program.</a:t>
            </a:r>
            <a:endParaRPr lang="en-US" sz="1500" dirty="0"/>
          </a:p>
        </p:txBody>
      </p:sp>
      <p:sp>
        <p:nvSpPr>
          <p:cNvPr id="21" name="API wait4()"/>
          <p:cNvSpPr/>
          <p:nvPr/>
        </p:nvSpPr>
        <p:spPr>
          <a:xfrm>
            <a:off x="6949440" y="3977640"/>
            <a:ext cx="4663440" cy="960120"/>
          </a:xfrm>
          <a:prstGeom prst="roundRect">
            <a:avLst>
              <a:gd name="adj" fmla="val 7619"/>
            </a:avLst>
          </a:prstGeom>
          <a:solidFill>
            <a:srgbClr val="0B2A5B"/>
          </a:solidFill>
          <a:ln/>
        </p:spPr>
      </p:sp>
      <p:sp>
        <p:nvSpPr>
          <p:cNvPr id="22" name="Text 20"/>
          <p:cNvSpPr txBox="1"/>
          <p:nvPr/>
        </p:nvSpPr>
        <p:spPr>
          <a:xfrm>
            <a:off x="7178040" y="3977640"/>
            <a:ext cx="4297680" cy="960120"/>
          </a:xfrm>
          <a:prstGeom prst="rect">
            <a:avLst/>
          </a:prstGeom>
          <a:noFill/>
          <a:ln/>
        </p:spPr>
        <p:txBody>
          <a:bodyPr wrap="square" lIns="0" tIns="0" rIns="0" bIns="0" rtlCol="0" anchor="ctr"/>
          <a:lstStyle/>
          <a:p>
            <a:pPr marL="0" indent="0">
              <a:spcAft>
                <a:spcPts val="300"/>
              </a:spcAft>
              <a:buNone/>
            </a:pPr>
            <a:r>
              <a:rPr lang="en-US" sz="1500" b="1" dirty="0">
                <a:solidFill>
                  <a:schemeClr val="accent2"/>
                </a:solidFill>
                <a:latin typeface="Courier New" pitchFamily="34" charset="0"/>
                <a:ea typeface="Courier New" pitchFamily="34" charset="-122"/>
                <a:cs typeface="Courier New" pitchFamily="34" charset="-120"/>
              </a:rPr>
              <a:t>wait4()</a:t>
            </a:r>
            <a:endParaRPr lang="en-US" sz="1500" dirty="0"/>
          </a:p>
          <a:p>
            <a:pPr marL="0" indent="0">
              <a:spcAft>
                <a:spcPts val="300"/>
              </a:spcAft>
              <a:buNone/>
            </a:pPr>
            <a:r>
              <a:rPr lang="en-US" sz="1400" dirty="0">
                <a:solidFill>
                  <a:schemeClr val="bg1"/>
                </a:solidFill>
              </a:rPr>
              <a:t>Waits for the child process and collects resource-usage information.</a:t>
            </a:r>
            <a:endParaRPr lang="en-US" sz="1500" dirty="0"/>
          </a:p>
        </p:txBody>
      </p:sp>
      <p:sp>
        <p:nvSpPr>
          <p:cNvPr id="23" name="API clock_gettime(CLOCK_MONOTONIC)"/>
          <p:cNvSpPr/>
          <p:nvPr/>
        </p:nvSpPr>
        <p:spPr>
          <a:xfrm>
            <a:off x="6949440" y="5074920"/>
            <a:ext cx="4663440" cy="960120"/>
          </a:xfrm>
          <a:prstGeom prst="roundRect">
            <a:avLst>
              <a:gd name="adj" fmla="val 7619"/>
            </a:avLst>
          </a:prstGeom>
          <a:solidFill>
            <a:srgbClr val="0B2A5B"/>
          </a:solidFill>
          <a:ln/>
        </p:spPr>
      </p:sp>
      <p:sp>
        <p:nvSpPr>
          <p:cNvPr id="24" name="Text 22"/>
          <p:cNvSpPr txBox="1"/>
          <p:nvPr/>
        </p:nvSpPr>
        <p:spPr>
          <a:xfrm>
            <a:off x="7178040" y="5074920"/>
            <a:ext cx="4297680" cy="960120"/>
          </a:xfrm>
          <a:prstGeom prst="rect">
            <a:avLst/>
          </a:prstGeom>
          <a:noFill/>
          <a:ln/>
        </p:spPr>
        <p:txBody>
          <a:bodyPr wrap="square" lIns="0" tIns="0" rIns="0" bIns="0" rtlCol="0" anchor="ctr"/>
          <a:lstStyle/>
          <a:p>
            <a:pPr marL="0" indent="0">
              <a:spcAft>
                <a:spcPts val="300"/>
              </a:spcAft>
              <a:buNone/>
            </a:pPr>
            <a:r>
              <a:rPr lang="en-US" sz="1500" b="1" dirty="0">
                <a:solidFill>
                  <a:schemeClr val="accent2"/>
                </a:solidFill>
                <a:latin typeface="Courier New" pitchFamily="34" charset="0"/>
                <a:ea typeface="Courier New" pitchFamily="34" charset="-122"/>
                <a:cs typeface="Courier New" pitchFamily="34" charset="-120"/>
              </a:rPr>
              <a:t>clock_gettime(CLOCK_MONOTONIC)</a:t>
            </a:r>
            <a:endParaRPr lang="en-US" sz="1500" dirty="0"/>
          </a:p>
          <a:p>
            <a:pPr marL="0" indent="0">
              <a:spcAft>
                <a:spcPts val="300"/>
              </a:spcAft>
              <a:buNone/>
            </a:pPr>
            <a:r>
              <a:rPr lang="en-US" sz="1400" dirty="0">
                <a:solidFill>
                  <a:schemeClr val="bg1"/>
                </a:solidFill>
              </a:rPr>
              <a:t>Measures elapsed wall-clock time.</a:t>
            </a:r>
            <a:endParaRPr lang="en-US" sz="15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68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400" b="1" dirty="0">
                <a:solidFill>
                  <a:schemeClr val="tx2"/>
                </a:solidFill>
              </a:rPr>
              <a:t>System Architecture</a:t>
            </a:r>
            <a:endParaRPr lang="en-US" sz="3400" dirty="0"/>
          </a:p>
        </p:txBody>
      </p:sp>
      <p:sp>
        <p:nvSpPr>
          <p:cNvPr id="3" name="Step 1"/>
          <p:cNvSpPr/>
          <p:nvPr/>
        </p:nvSpPr>
        <p:spPr>
          <a:xfrm>
            <a:off x="548640" y="1417320"/>
            <a:ext cx="3291840" cy="1188720"/>
          </a:xfrm>
          <a:prstGeom prst="roundRect">
            <a:avLst>
              <a:gd name="adj" fmla="val 6154"/>
            </a:avLst>
          </a:prstGeom>
          <a:solidFill>
            <a:srgbClr val="EAF0F8"/>
          </a:solidFill>
          <a:ln w="19050">
            <a:solidFill>
              <a:srgbClr val="1F4E9E"/>
            </a:solidFill>
            <a:prstDash val="solid"/>
          </a:ln>
        </p:spPr>
      </p:sp>
      <p:sp>
        <p:nvSpPr>
          <p:cNvPr id="4" name="Shape 2"/>
          <p:cNvSpPr/>
          <p:nvPr/>
        </p:nvSpPr>
        <p:spPr>
          <a:xfrm>
            <a:off x="685800" y="1545336"/>
            <a:ext cx="384048" cy="384048"/>
          </a:xfrm>
          <a:prstGeom prst="ellipse">
            <a:avLst/>
          </a:prstGeom>
          <a:solidFill>
            <a:srgbClr val="0B2A5B"/>
          </a:solidFill>
          <a:ln/>
        </p:spPr>
      </p:sp>
      <p:sp>
        <p:nvSpPr>
          <p:cNvPr id="5" name="Text 3"/>
          <p:cNvSpPr txBox="1"/>
          <p:nvPr/>
        </p:nvSpPr>
        <p:spPr>
          <a:xfrm>
            <a:off x="685800" y="1545336"/>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6" name="Text 4"/>
          <p:cNvSpPr txBox="1"/>
          <p:nvPr/>
        </p:nvSpPr>
        <p:spPr>
          <a:xfrm>
            <a:off x="1188720" y="1545336"/>
            <a:ext cx="2560320" cy="384048"/>
          </a:xfrm>
          <a:prstGeom prst="rect">
            <a:avLst/>
          </a:prstGeom>
          <a:noFill/>
          <a:ln/>
        </p:spPr>
        <p:txBody>
          <a:bodyPr wrap="square" lIns="0" tIns="0" rIns="0" bIns="0" rtlCol="0" anchor="ctr"/>
          <a:lstStyle/>
          <a:p>
            <a:pPr marL="0" indent="0">
              <a:buNone/>
            </a:pPr>
            <a:r>
              <a:rPr lang="en-US" sz="1600" b="1" dirty="0">
                <a:solidFill>
                  <a:schemeClr val="tx2"/>
                </a:solidFill>
              </a:rPr>
              <a:t>Enter command</a:t>
            </a:r>
            <a:endParaRPr lang="en-US" sz="1600" dirty="0"/>
          </a:p>
        </p:txBody>
      </p:sp>
      <p:sp>
        <p:nvSpPr>
          <p:cNvPr id="7" name="Text 5"/>
          <p:cNvSpPr txBox="1"/>
          <p:nvPr/>
        </p:nvSpPr>
        <p:spPr>
          <a:xfrm>
            <a:off x="731520" y="2039112"/>
            <a:ext cx="2926080" cy="502920"/>
          </a:xfrm>
          <a:prstGeom prst="rect">
            <a:avLst/>
          </a:prstGeom>
          <a:noFill/>
          <a:ln/>
        </p:spPr>
        <p:txBody>
          <a:bodyPr wrap="square" lIns="0" tIns="0" rIns="0" bIns="0" rtlCol="0" anchor="t"/>
          <a:lstStyle/>
          <a:p>
            <a:pPr marL="0" indent="0">
              <a:buNone/>
            </a:pPr>
            <a:r>
              <a:rPr lang="en-US" sz="1300" dirty="0">
                <a:solidFill>
                  <a:schemeClr val="tx1"/>
                </a:solidFill>
              </a:rPr>
              <a:t>Read one line with fgets()</a:t>
            </a:r>
            <a:endParaRPr lang="en-US" sz="1300" dirty="0"/>
          </a:p>
        </p:txBody>
      </p:sp>
      <p:sp>
        <p:nvSpPr>
          <p:cNvPr id="8" name="Step 2"/>
          <p:cNvSpPr/>
          <p:nvPr/>
        </p:nvSpPr>
        <p:spPr>
          <a:xfrm>
            <a:off x="4434840" y="1417320"/>
            <a:ext cx="3291840" cy="1188720"/>
          </a:xfrm>
          <a:prstGeom prst="roundRect">
            <a:avLst>
              <a:gd name="adj" fmla="val 6154"/>
            </a:avLst>
          </a:prstGeom>
          <a:solidFill>
            <a:srgbClr val="EAF0F8"/>
          </a:solidFill>
          <a:ln w="19050">
            <a:solidFill>
              <a:srgbClr val="1F4E9E"/>
            </a:solidFill>
            <a:prstDash val="solid"/>
          </a:ln>
        </p:spPr>
      </p:sp>
      <p:sp>
        <p:nvSpPr>
          <p:cNvPr id="9" name="Shape 7"/>
          <p:cNvSpPr/>
          <p:nvPr/>
        </p:nvSpPr>
        <p:spPr>
          <a:xfrm>
            <a:off x="4572000" y="1545336"/>
            <a:ext cx="384048" cy="384048"/>
          </a:xfrm>
          <a:prstGeom prst="ellipse">
            <a:avLst/>
          </a:prstGeom>
          <a:solidFill>
            <a:srgbClr val="0B2A5B"/>
          </a:solidFill>
          <a:ln/>
        </p:spPr>
      </p:sp>
      <p:sp>
        <p:nvSpPr>
          <p:cNvPr id="10" name="Text 8"/>
          <p:cNvSpPr txBox="1"/>
          <p:nvPr/>
        </p:nvSpPr>
        <p:spPr>
          <a:xfrm>
            <a:off x="4572000" y="1545336"/>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1" name="Text 9"/>
          <p:cNvSpPr txBox="1"/>
          <p:nvPr/>
        </p:nvSpPr>
        <p:spPr>
          <a:xfrm>
            <a:off x="5074920" y="1545336"/>
            <a:ext cx="2560320" cy="384048"/>
          </a:xfrm>
          <a:prstGeom prst="rect">
            <a:avLst/>
          </a:prstGeom>
          <a:noFill/>
          <a:ln/>
        </p:spPr>
        <p:txBody>
          <a:bodyPr wrap="square" lIns="0" tIns="0" rIns="0" bIns="0" rtlCol="0" anchor="ctr"/>
          <a:lstStyle/>
          <a:p>
            <a:pPr marL="0" indent="0">
              <a:buNone/>
            </a:pPr>
            <a:r>
              <a:rPr lang="en-US" sz="1600" b="1" dirty="0">
                <a:solidFill>
                  <a:schemeClr val="tx2"/>
                </a:solidFill>
              </a:rPr>
              <a:t>Parse input</a:t>
            </a:r>
            <a:endParaRPr lang="en-US" sz="1600" dirty="0"/>
          </a:p>
        </p:txBody>
      </p:sp>
      <p:sp>
        <p:nvSpPr>
          <p:cNvPr id="12" name="Text 10"/>
          <p:cNvSpPr txBox="1"/>
          <p:nvPr/>
        </p:nvSpPr>
        <p:spPr>
          <a:xfrm>
            <a:off x="4617720" y="2039112"/>
            <a:ext cx="2926080" cy="502920"/>
          </a:xfrm>
          <a:prstGeom prst="rect">
            <a:avLst/>
          </a:prstGeom>
          <a:noFill/>
          <a:ln/>
        </p:spPr>
        <p:txBody>
          <a:bodyPr wrap="square" lIns="0" tIns="0" rIns="0" bIns="0" rtlCol="0" anchor="t"/>
          <a:lstStyle/>
          <a:p>
            <a:pPr marL="0" indent="0">
              <a:buNone/>
            </a:pPr>
            <a:r>
              <a:rPr lang="en-US" sz="1300" dirty="0">
                <a:solidFill>
                  <a:schemeClr val="tx1"/>
                </a:solidFill>
              </a:rPr>
              <a:t>strtok() splits at spaces/tabs into command + arguments</a:t>
            </a:r>
            <a:endParaRPr lang="en-US" sz="1300" dirty="0"/>
          </a:p>
        </p:txBody>
      </p:sp>
      <p:sp>
        <p:nvSpPr>
          <p:cNvPr id="13" name="Step 3"/>
          <p:cNvSpPr/>
          <p:nvPr/>
        </p:nvSpPr>
        <p:spPr>
          <a:xfrm>
            <a:off x="8321040" y="1417320"/>
            <a:ext cx="3291840" cy="1188720"/>
          </a:xfrm>
          <a:prstGeom prst="roundRect">
            <a:avLst>
              <a:gd name="adj" fmla="val 6154"/>
            </a:avLst>
          </a:prstGeom>
          <a:solidFill>
            <a:srgbClr val="0B2A5B"/>
          </a:solidFill>
          <a:ln w="19050">
            <a:solidFill>
              <a:srgbClr val="1F4E9E"/>
            </a:solidFill>
            <a:prstDash val="solid"/>
          </a:ln>
        </p:spPr>
      </p:sp>
      <p:sp>
        <p:nvSpPr>
          <p:cNvPr id="14" name="Shape 12"/>
          <p:cNvSpPr/>
          <p:nvPr/>
        </p:nvSpPr>
        <p:spPr>
          <a:xfrm>
            <a:off x="8458200" y="1545336"/>
            <a:ext cx="384048" cy="384048"/>
          </a:xfrm>
          <a:prstGeom prst="ellipse">
            <a:avLst/>
          </a:prstGeom>
          <a:solidFill>
            <a:srgbClr val="7FA6E3"/>
          </a:solidFill>
          <a:ln/>
        </p:spPr>
      </p:sp>
      <p:sp>
        <p:nvSpPr>
          <p:cNvPr id="15" name="Text 13"/>
          <p:cNvSpPr txBox="1"/>
          <p:nvPr/>
        </p:nvSpPr>
        <p:spPr>
          <a:xfrm>
            <a:off x="8458200" y="1545336"/>
            <a:ext cx="384048" cy="384048"/>
          </a:xfrm>
          <a:prstGeom prst="rect">
            <a:avLst/>
          </a:prstGeom>
          <a:noFill/>
          <a:ln/>
        </p:spPr>
        <p:txBody>
          <a:bodyPr wrap="square" lIns="0" tIns="0" rIns="0" bIns="0" rtlCol="0" anchor="ctr"/>
          <a:lstStyle/>
          <a:p>
            <a:pPr marL="0" indent="0" algn="ctr">
              <a:buNone/>
            </a:pPr>
            <a:r>
              <a:rPr lang="en-US" sz="1400" b="1" dirty="0">
                <a:solidFill>
                  <a:srgbClr val="0B2A5B"/>
                </a:solidFill>
              </a:rPr>
              <a:t>3</a:t>
            </a:r>
            <a:endParaRPr lang="en-US" sz="1400" dirty="0"/>
          </a:p>
        </p:txBody>
      </p:sp>
      <p:sp>
        <p:nvSpPr>
          <p:cNvPr id="16" name="Text 14"/>
          <p:cNvSpPr txBox="1"/>
          <p:nvPr/>
        </p:nvSpPr>
        <p:spPr>
          <a:xfrm>
            <a:off x="8961120" y="1545336"/>
            <a:ext cx="2560320" cy="384048"/>
          </a:xfrm>
          <a:prstGeom prst="rect">
            <a:avLst/>
          </a:prstGeom>
          <a:noFill/>
          <a:ln/>
        </p:spPr>
        <p:txBody>
          <a:bodyPr wrap="square" lIns="0" tIns="0" rIns="0" bIns="0" rtlCol="0" anchor="ctr"/>
          <a:lstStyle/>
          <a:p>
            <a:pPr marL="0" indent="0">
              <a:buNone/>
            </a:pPr>
            <a:r>
              <a:rPr lang="en-US" sz="1600" b="1" dirty="0">
                <a:solidFill>
                  <a:srgbClr val="FFFFFF"/>
                </a:solidFill>
              </a:rPr>
              <a:t>Create child</a:t>
            </a:r>
            <a:endParaRPr lang="en-US" sz="1600" dirty="0"/>
          </a:p>
        </p:txBody>
      </p:sp>
      <p:sp>
        <p:nvSpPr>
          <p:cNvPr id="17" name="Text 15"/>
          <p:cNvSpPr txBox="1"/>
          <p:nvPr/>
        </p:nvSpPr>
        <p:spPr>
          <a:xfrm>
            <a:off x="8503920" y="2039112"/>
            <a:ext cx="2926080" cy="502920"/>
          </a:xfrm>
          <a:prstGeom prst="rect">
            <a:avLst/>
          </a:prstGeom>
          <a:noFill/>
          <a:ln/>
        </p:spPr>
        <p:txBody>
          <a:bodyPr wrap="square" lIns="0" tIns="0" rIns="0" bIns="0" rtlCol="0" anchor="t"/>
          <a:lstStyle/>
          <a:p>
            <a:pPr marL="0" indent="0">
              <a:buNone/>
            </a:pPr>
            <a:r>
              <a:rPr lang="en-US" sz="1300" dirty="0">
                <a:solidFill>
                  <a:schemeClr val="accent6"/>
                </a:solidFill>
              </a:rPr>
              <a:t>Start time recorded, then fork()</a:t>
            </a:r>
            <a:endParaRPr lang="en-US" sz="1300" dirty="0"/>
          </a:p>
        </p:txBody>
      </p:sp>
      <p:sp>
        <p:nvSpPr>
          <p:cNvPr id="18" name="Step 4"/>
          <p:cNvSpPr/>
          <p:nvPr/>
        </p:nvSpPr>
        <p:spPr>
          <a:xfrm>
            <a:off x="8321040" y="3108960"/>
            <a:ext cx="3291840" cy="1188720"/>
          </a:xfrm>
          <a:prstGeom prst="roundRect">
            <a:avLst>
              <a:gd name="adj" fmla="val 6154"/>
            </a:avLst>
          </a:prstGeom>
          <a:solidFill>
            <a:srgbClr val="0B2A5B"/>
          </a:solidFill>
          <a:ln w="19050">
            <a:solidFill>
              <a:srgbClr val="1F4E9E"/>
            </a:solidFill>
            <a:prstDash val="solid"/>
          </a:ln>
        </p:spPr>
      </p:sp>
      <p:sp>
        <p:nvSpPr>
          <p:cNvPr id="19" name="Shape 17"/>
          <p:cNvSpPr/>
          <p:nvPr/>
        </p:nvSpPr>
        <p:spPr>
          <a:xfrm>
            <a:off x="8458200" y="3236976"/>
            <a:ext cx="384048" cy="384048"/>
          </a:xfrm>
          <a:prstGeom prst="ellipse">
            <a:avLst/>
          </a:prstGeom>
          <a:solidFill>
            <a:srgbClr val="7FA6E3"/>
          </a:solidFill>
          <a:ln/>
        </p:spPr>
      </p:sp>
      <p:sp>
        <p:nvSpPr>
          <p:cNvPr id="20" name="Text 18"/>
          <p:cNvSpPr txBox="1"/>
          <p:nvPr/>
        </p:nvSpPr>
        <p:spPr>
          <a:xfrm>
            <a:off x="8458200" y="3236976"/>
            <a:ext cx="384048" cy="384048"/>
          </a:xfrm>
          <a:prstGeom prst="rect">
            <a:avLst/>
          </a:prstGeom>
          <a:noFill/>
          <a:ln/>
        </p:spPr>
        <p:txBody>
          <a:bodyPr wrap="square" lIns="0" tIns="0" rIns="0" bIns="0" rtlCol="0" anchor="ctr"/>
          <a:lstStyle/>
          <a:p>
            <a:pPr marL="0" indent="0" algn="ctr">
              <a:buNone/>
            </a:pPr>
            <a:r>
              <a:rPr lang="en-US" sz="1400" b="1" dirty="0">
                <a:solidFill>
                  <a:srgbClr val="0B2A5B"/>
                </a:solidFill>
              </a:rPr>
              <a:t>4</a:t>
            </a:r>
            <a:endParaRPr lang="en-US" sz="1400" dirty="0"/>
          </a:p>
        </p:txBody>
      </p:sp>
      <p:sp>
        <p:nvSpPr>
          <p:cNvPr id="21" name="Text 19"/>
          <p:cNvSpPr txBox="1"/>
          <p:nvPr/>
        </p:nvSpPr>
        <p:spPr>
          <a:xfrm>
            <a:off x="8961120" y="3236976"/>
            <a:ext cx="2560320" cy="384048"/>
          </a:xfrm>
          <a:prstGeom prst="rect">
            <a:avLst/>
          </a:prstGeom>
          <a:noFill/>
          <a:ln/>
        </p:spPr>
        <p:txBody>
          <a:bodyPr wrap="square" lIns="0" tIns="0" rIns="0" bIns="0" rtlCol="0" anchor="ctr"/>
          <a:lstStyle/>
          <a:p>
            <a:pPr marL="0" indent="0">
              <a:buNone/>
            </a:pPr>
            <a:r>
              <a:rPr lang="en-US" sz="1600" b="1" dirty="0">
                <a:solidFill>
                  <a:srgbClr val="FFFFFF"/>
                </a:solidFill>
              </a:rPr>
              <a:t>Run command</a:t>
            </a:r>
            <a:endParaRPr lang="en-US" sz="1600" dirty="0"/>
          </a:p>
        </p:txBody>
      </p:sp>
      <p:sp>
        <p:nvSpPr>
          <p:cNvPr id="22" name="Text 20"/>
          <p:cNvSpPr txBox="1"/>
          <p:nvPr/>
        </p:nvSpPr>
        <p:spPr>
          <a:xfrm>
            <a:off x="8503920" y="3730752"/>
            <a:ext cx="2926080" cy="502920"/>
          </a:xfrm>
          <a:prstGeom prst="rect">
            <a:avLst/>
          </a:prstGeom>
          <a:noFill/>
          <a:ln/>
        </p:spPr>
        <p:txBody>
          <a:bodyPr wrap="square" lIns="0" tIns="0" rIns="0" bIns="0" rtlCol="0" anchor="t"/>
          <a:lstStyle/>
          <a:p>
            <a:pPr marL="0" indent="0">
              <a:buNone/>
            </a:pPr>
            <a:r>
              <a:rPr lang="en-US" sz="1300" dirty="0">
                <a:solidFill>
                  <a:schemeClr val="accent6"/>
                </a:solidFill>
              </a:rPr>
              <a:t>execvp() in child; on failure perror() and exit 127</a:t>
            </a:r>
            <a:endParaRPr lang="en-US" sz="1300" dirty="0"/>
          </a:p>
        </p:txBody>
      </p:sp>
      <p:sp>
        <p:nvSpPr>
          <p:cNvPr id="23" name="Shape 21"/>
          <p:cNvSpPr/>
          <p:nvPr/>
        </p:nvSpPr>
        <p:spPr>
          <a:xfrm>
            <a:off x="10835640" y="2816352"/>
            <a:ext cx="777240" cy="237744"/>
          </a:xfrm>
          <a:prstGeom prst="roundRect">
            <a:avLst>
              <a:gd name="adj" fmla="val 23077"/>
            </a:avLst>
          </a:prstGeom>
          <a:solidFill>
            <a:srgbClr val="1F4E9E"/>
          </a:solidFill>
          <a:ln/>
        </p:spPr>
      </p:sp>
      <p:sp>
        <p:nvSpPr>
          <p:cNvPr id="24" name="Text 22"/>
          <p:cNvSpPr txBox="1"/>
          <p:nvPr/>
        </p:nvSpPr>
        <p:spPr>
          <a:xfrm>
            <a:off x="10835640" y="2816352"/>
            <a:ext cx="777240" cy="237744"/>
          </a:xfrm>
          <a:prstGeom prst="rect">
            <a:avLst/>
          </a:prstGeom>
          <a:noFill/>
          <a:ln/>
        </p:spPr>
        <p:txBody>
          <a:bodyPr wrap="square" lIns="0" tIns="0" rIns="0" bIns="0" rtlCol="0" anchor="ctr"/>
          <a:lstStyle/>
          <a:p>
            <a:pPr marL="0" indent="0" algn="ctr">
              <a:buNone/>
            </a:pPr>
            <a:r>
              <a:rPr lang="en-US" sz="1000" b="1" kern="0" spc="100" dirty="0">
                <a:solidFill>
                  <a:srgbClr val="FFFFFF"/>
                </a:solidFill>
              </a:rPr>
              <a:t>CHILD</a:t>
            </a:r>
            <a:endParaRPr lang="en-US" sz="1000" dirty="0"/>
          </a:p>
        </p:txBody>
      </p:sp>
      <p:sp>
        <p:nvSpPr>
          <p:cNvPr id="25" name="Step 5"/>
          <p:cNvSpPr/>
          <p:nvPr/>
        </p:nvSpPr>
        <p:spPr>
          <a:xfrm>
            <a:off x="4434840" y="3108960"/>
            <a:ext cx="3291840" cy="1188720"/>
          </a:xfrm>
          <a:prstGeom prst="roundRect">
            <a:avLst>
              <a:gd name="adj" fmla="val 6154"/>
            </a:avLst>
          </a:prstGeom>
          <a:solidFill>
            <a:srgbClr val="0B2A5B"/>
          </a:solidFill>
          <a:ln w="19050">
            <a:solidFill>
              <a:srgbClr val="1F4E9E"/>
            </a:solidFill>
            <a:prstDash val="solid"/>
          </a:ln>
        </p:spPr>
      </p:sp>
      <p:sp>
        <p:nvSpPr>
          <p:cNvPr id="26" name="Shape 24"/>
          <p:cNvSpPr/>
          <p:nvPr/>
        </p:nvSpPr>
        <p:spPr>
          <a:xfrm>
            <a:off x="4572000" y="3236976"/>
            <a:ext cx="384048" cy="384048"/>
          </a:xfrm>
          <a:prstGeom prst="ellipse">
            <a:avLst/>
          </a:prstGeom>
          <a:solidFill>
            <a:srgbClr val="7FA6E3"/>
          </a:solidFill>
          <a:ln/>
        </p:spPr>
      </p:sp>
      <p:sp>
        <p:nvSpPr>
          <p:cNvPr id="27" name="Text 25"/>
          <p:cNvSpPr txBox="1"/>
          <p:nvPr/>
        </p:nvSpPr>
        <p:spPr>
          <a:xfrm>
            <a:off x="4572000" y="3236976"/>
            <a:ext cx="384048" cy="384048"/>
          </a:xfrm>
          <a:prstGeom prst="rect">
            <a:avLst/>
          </a:prstGeom>
          <a:noFill/>
          <a:ln/>
        </p:spPr>
        <p:txBody>
          <a:bodyPr wrap="square" lIns="0" tIns="0" rIns="0" bIns="0" rtlCol="0" anchor="ctr"/>
          <a:lstStyle/>
          <a:p>
            <a:pPr marL="0" indent="0" algn="ctr">
              <a:buNone/>
            </a:pPr>
            <a:r>
              <a:rPr lang="en-US" sz="1400" b="1" dirty="0">
                <a:solidFill>
                  <a:srgbClr val="0B2A5B"/>
                </a:solidFill>
              </a:rPr>
              <a:t>5</a:t>
            </a:r>
            <a:endParaRPr lang="en-US" sz="1400" dirty="0"/>
          </a:p>
        </p:txBody>
      </p:sp>
      <p:sp>
        <p:nvSpPr>
          <p:cNvPr id="28" name="Text 26"/>
          <p:cNvSpPr txBox="1"/>
          <p:nvPr/>
        </p:nvSpPr>
        <p:spPr>
          <a:xfrm>
            <a:off x="5074920" y="3236976"/>
            <a:ext cx="2560320" cy="384048"/>
          </a:xfrm>
          <a:prstGeom prst="rect">
            <a:avLst/>
          </a:prstGeom>
          <a:noFill/>
          <a:ln/>
        </p:spPr>
        <p:txBody>
          <a:bodyPr wrap="square" lIns="0" tIns="0" rIns="0" bIns="0" rtlCol="0" anchor="ctr"/>
          <a:lstStyle/>
          <a:p>
            <a:pPr marL="0" indent="0">
              <a:buNone/>
            </a:pPr>
            <a:r>
              <a:rPr lang="en-US" sz="1600" b="1" dirty="0">
                <a:solidFill>
                  <a:srgbClr val="FFFFFF"/>
                </a:solidFill>
              </a:rPr>
              <a:t>Parent waits</a:t>
            </a:r>
            <a:endParaRPr lang="en-US" sz="1600" dirty="0"/>
          </a:p>
        </p:txBody>
      </p:sp>
      <p:sp>
        <p:nvSpPr>
          <p:cNvPr id="29" name="Text 27"/>
          <p:cNvSpPr txBox="1"/>
          <p:nvPr/>
        </p:nvSpPr>
        <p:spPr>
          <a:xfrm>
            <a:off x="4617720" y="3730752"/>
            <a:ext cx="2926080" cy="502920"/>
          </a:xfrm>
          <a:prstGeom prst="rect">
            <a:avLst/>
          </a:prstGeom>
          <a:noFill/>
          <a:ln/>
        </p:spPr>
        <p:txBody>
          <a:bodyPr wrap="square" lIns="0" tIns="0" rIns="0" bIns="0" rtlCol="0" anchor="t"/>
          <a:lstStyle/>
          <a:p>
            <a:pPr marL="0" indent="0">
              <a:buNone/>
            </a:pPr>
            <a:r>
              <a:rPr lang="en-US" sz="1300" dirty="0">
                <a:solidFill>
                  <a:schemeClr val="accent6"/>
                </a:solidFill>
              </a:rPr>
              <a:t>wait4() returns status and resource usage</a:t>
            </a:r>
            <a:endParaRPr lang="en-US" sz="1300" dirty="0"/>
          </a:p>
        </p:txBody>
      </p:sp>
      <p:sp>
        <p:nvSpPr>
          <p:cNvPr id="30" name="Shape 28"/>
          <p:cNvSpPr/>
          <p:nvPr/>
        </p:nvSpPr>
        <p:spPr>
          <a:xfrm>
            <a:off x="4434840" y="2816352"/>
            <a:ext cx="777240" cy="237744"/>
          </a:xfrm>
          <a:prstGeom prst="roundRect">
            <a:avLst>
              <a:gd name="adj" fmla="val 23077"/>
            </a:avLst>
          </a:prstGeom>
          <a:solidFill>
            <a:srgbClr val="1F4E9E"/>
          </a:solidFill>
          <a:ln/>
        </p:spPr>
      </p:sp>
      <p:sp>
        <p:nvSpPr>
          <p:cNvPr id="31" name="Text 29"/>
          <p:cNvSpPr txBox="1"/>
          <p:nvPr/>
        </p:nvSpPr>
        <p:spPr>
          <a:xfrm>
            <a:off x="4434840" y="2816352"/>
            <a:ext cx="777240" cy="237744"/>
          </a:xfrm>
          <a:prstGeom prst="rect">
            <a:avLst/>
          </a:prstGeom>
          <a:noFill/>
          <a:ln/>
        </p:spPr>
        <p:txBody>
          <a:bodyPr wrap="square" lIns="0" tIns="0" rIns="0" bIns="0" rtlCol="0" anchor="ctr"/>
          <a:lstStyle/>
          <a:p>
            <a:pPr marL="0" indent="0" algn="ctr">
              <a:buNone/>
            </a:pPr>
            <a:r>
              <a:rPr lang="en-US" sz="1000" b="1" kern="0" spc="100" dirty="0">
                <a:solidFill>
                  <a:srgbClr val="FFFFFF"/>
                </a:solidFill>
              </a:rPr>
              <a:t>PARENT</a:t>
            </a:r>
            <a:endParaRPr lang="en-US" sz="1000" dirty="0"/>
          </a:p>
        </p:txBody>
      </p:sp>
      <p:sp>
        <p:nvSpPr>
          <p:cNvPr id="32" name="Step 6"/>
          <p:cNvSpPr/>
          <p:nvPr/>
        </p:nvSpPr>
        <p:spPr>
          <a:xfrm>
            <a:off x="548640" y="3108960"/>
            <a:ext cx="3291840" cy="1188720"/>
          </a:xfrm>
          <a:prstGeom prst="roundRect">
            <a:avLst>
              <a:gd name="adj" fmla="val 6154"/>
            </a:avLst>
          </a:prstGeom>
          <a:solidFill>
            <a:srgbClr val="EAF0F8"/>
          </a:solidFill>
          <a:ln w="19050">
            <a:solidFill>
              <a:srgbClr val="1F4E9E"/>
            </a:solidFill>
            <a:prstDash val="solid"/>
          </a:ln>
        </p:spPr>
      </p:sp>
      <p:sp>
        <p:nvSpPr>
          <p:cNvPr id="33" name="Shape 31"/>
          <p:cNvSpPr/>
          <p:nvPr/>
        </p:nvSpPr>
        <p:spPr>
          <a:xfrm>
            <a:off x="685800" y="3236976"/>
            <a:ext cx="384048" cy="384048"/>
          </a:xfrm>
          <a:prstGeom prst="ellipse">
            <a:avLst/>
          </a:prstGeom>
          <a:solidFill>
            <a:srgbClr val="0B2A5B"/>
          </a:solidFill>
          <a:ln/>
        </p:spPr>
      </p:sp>
      <p:sp>
        <p:nvSpPr>
          <p:cNvPr id="34" name="Text 32"/>
          <p:cNvSpPr txBox="1"/>
          <p:nvPr/>
        </p:nvSpPr>
        <p:spPr>
          <a:xfrm>
            <a:off x="685800" y="3236976"/>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rPr>
              <a:t>6</a:t>
            </a:r>
            <a:endParaRPr lang="en-US" sz="1400" dirty="0"/>
          </a:p>
        </p:txBody>
      </p:sp>
      <p:sp>
        <p:nvSpPr>
          <p:cNvPr id="35" name="Text 33"/>
          <p:cNvSpPr txBox="1"/>
          <p:nvPr/>
        </p:nvSpPr>
        <p:spPr>
          <a:xfrm>
            <a:off x="1188720" y="3236976"/>
            <a:ext cx="2560320" cy="384048"/>
          </a:xfrm>
          <a:prstGeom prst="rect">
            <a:avLst/>
          </a:prstGeom>
          <a:noFill/>
          <a:ln/>
        </p:spPr>
        <p:txBody>
          <a:bodyPr wrap="square" lIns="0" tIns="0" rIns="0" bIns="0" rtlCol="0" anchor="ctr"/>
          <a:lstStyle/>
          <a:p>
            <a:pPr marL="0" indent="0">
              <a:buNone/>
            </a:pPr>
            <a:r>
              <a:rPr lang="en-US" sz="1600" b="1" dirty="0">
                <a:solidFill>
                  <a:schemeClr val="tx2"/>
                </a:solidFill>
              </a:rPr>
              <a:t>Compute elapsed time</a:t>
            </a:r>
            <a:endParaRPr lang="en-US" sz="1600" dirty="0"/>
          </a:p>
        </p:txBody>
      </p:sp>
      <p:sp>
        <p:nvSpPr>
          <p:cNvPr id="36" name="Text 34"/>
          <p:cNvSpPr txBox="1"/>
          <p:nvPr/>
        </p:nvSpPr>
        <p:spPr>
          <a:xfrm>
            <a:off x="731520" y="3730752"/>
            <a:ext cx="2926080" cy="502920"/>
          </a:xfrm>
          <a:prstGeom prst="rect">
            <a:avLst/>
          </a:prstGeom>
          <a:noFill/>
          <a:ln/>
        </p:spPr>
        <p:txBody>
          <a:bodyPr wrap="square" lIns="0" tIns="0" rIns="0" bIns="0" rtlCol="0" anchor="t"/>
          <a:lstStyle/>
          <a:p>
            <a:pPr marL="0" indent="0">
              <a:buNone/>
            </a:pPr>
            <a:r>
              <a:rPr lang="en-US" sz="1300" dirty="0">
                <a:solidFill>
                  <a:schemeClr val="tx1"/>
                </a:solidFill>
              </a:rPr>
              <a:t>CLOCK_MONOTONIC end time minus start time</a:t>
            </a:r>
            <a:endParaRPr lang="en-US" sz="1300" dirty="0"/>
          </a:p>
        </p:txBody>
      </p:sp>
      <p:sp>
        <p:nvSpPr>
          <p:cNvPr id="37" name="Step 7"/>
          <p:cNvSpPr/>
          <p:nvPr/>
        </p:nvSpPr>
        <p:spPr>
          <a:xfrm>
            <a:off x="548640" y="4800600"/>
            <a:ext cx="3291840" cy="1188720"/>
          </a:xfrm>
          <a:prstGeom prst="roundRect">
            <a:avLst>
              <a:gd name="adj" fmla="val 6154"/>
            </a:avLst>
          </a:prstGeom>
          <a:solidFill>
            <a:srgbClr val="EAF0F8"/>
          </a:solidFill>
          <a:ln w="19050">
            <a:solidFill>
              <a:srgbClr val="1F4E9E"/>
            </a:solidFill>
            <a:prstDash val="solid"/>
          </a:ln>
        </p:spPr>
      </p:sp>
      <p:sp>
        <p:nvSpPr>
          <p:cNvPr id="38" name="Shape 36"/>
          <p:cNvSpPr/>
          <p:nvPr/>
        </p:nvSpPr>
        <p:spPr>
          <a:xfrm>
            <a:off x="685800" y="4928616"/>
            <a:ext cx="384048" cy="384048"/>
          </a:xfrm>
          <a:prstGeom prst="ellipse">
            <a:avLst/>
          </a:prstGeom>
          <a:solidFill>
            <a:srgbClr val="0B2A5B"/>
          </a:solidFill>
          <a:ln/>
        </p:spPr>
      </p:sp>
      <p:sp>
        <p:nvSpPr>
          <p:cNvPr id="39" name="Text 37"/>
          <p:cNvSpPr txBox="1"/>
          <p:nvPr/>
        </p:nvSpPr>
        <p:spPr>
          <a:xfrm>
            <a:off x="685800" y="4928616"/>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rPr>
              <a:t>7</a:t>
            </a:r>
            <a:endParaRPr lang="en-US" sz="1400" dirty="0"/>
          </a:p>
        </p:txBody>
      </p:sp>
      <p:sp>
        <p:nvSpPr>
          <p:cNvPr id="40" name="Text 38"/>
          <p:cNvSpPr txBox="1"/>
          <p:nvPr/>
        </p:nvSpPr>
        <p:spPr>
          <a:xfrm>
            <a:off x="1188720" y="4928616"/>
            <a:ext cx="2560320" cy="384048"/>
          </a:xfrm>
          <a:prstGeom prst="rect">
            <a:avLst/>
          </a:prstGeom>
          <a:noFill/>
          <a:ln/>
        </p:spPr>
        <p:txBody>
          <a:bodyPr wrap="square" lIns="0" tIns="0" rIns="0" bIns="0" rtlCol="0" anchor="ctr"/>
          <a:lstStyle/>
          <a:p>
            <a:pPr marL="0" indent="0">
              <a:buNone/>
            </a:pPr>
            <a:r>
              <a:rPr lang="en-US" sz="1600" b="1" dirty="0">
                <a:solidFill>
                  <a:schemeClr val="tx2"/>
                </a:solidFill>
              </a:rPr>
              <a:t>Collect results</a:t>
            </a:r>
            <a:endParaRPr lang="en-US" sz="1600" dirty="0"/>
          </a:p>
        </p:txBody>
      </p:sp>
      <p:sp>
        <p:nvSpPr>
          <p:cNvPr id="41" name="Text 39"/>
          <p:cNvSpPr txBox="1"/>
          <p:nvPr/>
        </p:nvSpPr>
        <p:spPr>
          <a:xfrm>
            <a:off x="731520" y="5422392"/>
            <a:ext cx="2926080" cy="502920"/>
          </a:xfrm>
          <a:prstGeom prst="rect">
            <a:avLst/>
          </a:prstGeom>
          <a:noFill/>
          <a:ln/>
        </p:spPr>
        <p:txBody>
          <a:bodyPr wrap="square" lIns="0" tIns="0" rIns="0" bIns="0" rtlCol="0" anchor="t"/>
          <a:lstStyle/>
          <a:p>
            <a:pPr marL="0" indent="0">
              <a:buNone/>
            </a:pPr>
            <a:r>
              <a:rPr lang="en-US" sz="1300" dirty="0">
                <a:solidFill>
                  <a:schemeClr val="tx1"/>
                </a:solidFill>
              </a:rPr>
              <a:t>CPU times and max memory from rusage; exit status</a:t>
            </a:r>
            <a:endParaRPr lang="en-US" sz="1300" dirty="0"/>
          </a:p>
        </p:txBody>
      </p:sp>
      <p:sp>
        <p:nvSpPr>
          <p:cNvPr id="42" name="Step 8"/>
          <p:cNvSpPr/>
          <p:nvPr/>
        </p:nvSpPr>
        <p:spPr>
          <a:xfrm>
            <a:off x="4434840" y="4800600"/>
            <a:ext cx="3291840" cy="1188720"/>
          </a:xfrm>
          <a:prstGeom prst="roundRect">
            <a:avLst>
              <a:gd name="adj" fmla="val 6154"/>
            </a:avLst>
          </a:prstGeom>
          <a:solidFill>
            <a:srgbClr val="EAF0F8"/>
          </a:solidFill>
          <a:ln w="19050">
            <a:solidFill>
              <a:srgbClr val="1F4E9E"/>
            </a:solidFill>
            <a:prstDash val="solid"/>
          </a:ln>
        </p:spPr>
      </p:sp>
      <p:sp>
        <p:nvSpPr>
          <p:cNvPr id="43" name="Shape 41"/>
          <p:cNvSpPr/>
          <p:nvPr/>
        </p:nvSpPr>
        <p:spPr>
          <a:xfrm>
            <a:off x="4572000" y="4928616"/>
            <a:ext cx="384048" cy="384048"/>
          </a:xfrm>
          <a:prstGeom prst="ellipse">
            <a:avLst/>
          </a:prstGeom>
          <a:solidFill>
            <a:srgbClr val="0B2A5B"/>
          </a:solidFill>
          <a:ln/>
        </p:spPr>
      </p:sp>
      <p:sp>
        <p:nvSpPr>
          <p:cNvPr id="44" name="Text 42"/>
          <p:cNvSpPr txBox="1"/>
          <p:nvPr/>
        </p:nvSpPr>
        <p:spPr>
          <a:xfrm>
            <a:off x="4572000" y="4928616"/>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rPr>
              <a:t>8</a:t>
            </a:r>
            <a:endParaRPr lang="en-US" sz="1400" dirty="0"/>
          </a:p>
        </p:txBody>
      </p:sp>
      <p:sp>
        <p:nvSpPr>
          <p:cNvPr id="45" name="Text 43"/>
          <p:cNvSpPr txBox="1"/>
          <p:nvPr/>
        </p:nvSpPr>
        <p:spPr>
          <a:xfrm>
            <a:off x="5074920" y="4928616"/>
            <a:ext cx="2560320" cy="384048"/>
          </a:xfrm>
          <a:prstGeom prst="rect">
            <a:avLst/>
          </a:prstGeom>
          <a:noFill/>
          <a:ln/>
        </p:spPr>
        <p:txBody>
          <a:bodyPr wrap="square" lIns="0" tIns="0" rIns="0" bIns="0" rtlCol="0" anchor="ctr"/>
          <a:lstStyle/>
          <a:p>
            <a:pPr marL="0" indent="0">
              <a:buNone/>
            </a:pPr>
            <a:r>
              <a:rPr lang="en-US" sz="1600" b="1" dirty="0">
                <a:solidFill>
                  <a:schemeClr val="tx2"/>
                </a:solidFill>
              </a:rPr>
              <a:t>Display report</a:t>
            </a:r>
            <a:endParaRPr lang="en-US" sz="1600" dirty="0"/>
          </a:p>
        </p:txBody>
      </p:sp>
      <p:sp>
        <p:nvSpPr>
          <p:cNvPr id="46" name="Text 44"/>
          <p:cNvSpPr txBox="1"/>
          <p:nvPr/>
        </p:nvSpPr>
        <p:spPr>
          <a:xfrm>
            <a:off x="4617720" y="5422392"/>
            <a:ext cx="2926080" cy="502920"/>
          </a:xfrm>
          <a:prstGeom prst="rect">
            <a:avLst/>
          </a:prstGeom>
          <a:noFill/>
          <a:ln/>
        </p:spPr>
        <p:txBody>
          <a:bodyPr wrap="square" lIns="0" tIns="0" rIns="0" bIns="0" rtlCol="0" anchor="t"/>
          <a:lstStyle/>
          <a:p>
            <a:pPr marL="0" indent="0">
              <a:buNone/>
            </a:pPr>
            <a:r>
              <a:rPr lang="en-US" sz="1300" dirty="0">
                <a:solidFill>
                  <a:schemeClr val="tx1"/>
                </a:solidFill>
              </a:rPr>
              <a:t>Print the execution report</a:t>
            </a:r>
            <a:endParaRPr lang="en-US" sz="1300" dirty="0"/>
          </a:p>
        </p:txBody>
      </p:sp>
      <p:sp>
        <p:nvSpPr>
          <p:cNvPr id="47" name="Step 9"/>
          <p:cNvSpPr/>
          <p:nvPr/>
        </p:nvSpPr>
        <p:spPr>
          <a:xfrm>
            <a:off x="8321040" y="4800600"/>
            <a:ext cx="3291840" cy="1188720"/>
          </a:xfrm>
          <a:prstGeom prst="roundRect">
            <a:avLst>
              <a:gd name="adj" fmla="val 6154"/>
            </a:avLst>
          </a:prstGeom>
          <a:solidFill>
            <a:srgbClr val="EAF0F8"/>
          </a:solidFill>
          <a:ln w="19050">
            <a:solidFill>
              <a:srgbClr val="1F4E9E"/>
            </a:solidFill>
            <a:prstDash val="solid"/>
          </a:ln>
        </p:spPr>
      </p:sp>
      <p:sp>
        <p:nvSpPr>
          <p:cNvPr id="48" name="Shape 46"/>
          <p:cNvSpPr/>
          <p:nvPr/>
        </p:nvSpPr>
        <p:spPr>
          <a:xfrm>
            <a:off x="8458200" y="4928616"/>
            <a:ext cx="384048" cy="384048"/>
          </a:xfrm>
          <a:prstGeom prst="ellipse">
            <a:avLst/>
          </a:prstGeom>
          <a:solidFill>
            <a:srgbClr val="0B2A5B"/>
          </a:solidFill>
          <a:ln/>
        </p:spPr>
      </p:sp>
      <p:sp>
        <p:nvSpPr>
          <p:cNvPr id="49" name="Text 47"/>
          <p:cNvSpPr txBox="1"/>
          <p:nvPr/>
        </p:nvSpPr>
        <p:spPr>
          <a:xfrm>
            <a:off x="8458200" y="4928616"/>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rPr>
              <a:t>9</a:t>
            </a:r>
            <a:endParaRPr lang="en-US" sz="1400" dirty="0"/>
          </a:p>
        </p:txBody>
      </p:sp>
      <p:sp>
        <p:nvSpPr>
          <p:cNvPr id="50" name="Text 48"/>
          <p:cNvSpPr txBox="1"/>
          <p:nvPr/>
        </p:nvSpPr>
        <p:spPr>
          <a:xfrm>
            <a:off x="8961120" y="4928616"/>
            <a:ext cx="2560320" cy="384048"/>
          </a:xfrm>
          <a:prstGeom prst="rect">
            <a:avLst/>
          </a:prstGeom>
          <a:noFill/>
          <a:ln/>
        </p:spPr>
        <p:txBody>
          <a:bodyPr wrap="square" lIns="0" tIns="0" rIns="0" bIns="0" rtlCol="0" anchor="ctr"/>
          <a:lstStyle/>
          <a:p>
            <a:pPr marL="0" indent="0">
              <a:buNone/>
            </a:pPr>
            <a:r>
              <a:rPr lang="en-US" sz="1600" b="1" dirty="0">
                <a:solidFill>
                  <a:schemeClr val="tx2"/>
                </a:solidFill>
              </a:rPr>
              <a:t>Next command or exit</a:t>
            </a:r>
            <a:endParaRPr lang="en-US" sz="1600" dirty="0"/>
          </a:p>
        </p:txBody>
      </p:sp>
      <p:sp>
        <p:nvSpPr>
          <p:cNvPr id="51" name="Text 49"/>
          <p:cNvSpPr txBox="1"/>
          <p:nvPr/>
        </p:nvSpPr>
        <p:spPr>
          <a:xfrm>
            <a:off x="8503920" y="5422392"/>
            <a:ext cx="2926080" cy="502920"/>
          </a:xfrm>
          <a:prstGeom prst="rect">
            <a:avLst/>
          </a:prstGeom>
          <a:noFill/>
          <a:ln/>
        </p:spPr>
        <p:txBody>
          <a:bodyPr wrap="square" lIns="0" tIns="0" rIns="0" bIns="0" rtlCol="0" anchor="t"/>
          <a:lstStyle/>
          <a:p>
            <a:pPr marL="0" indent="0">
              <a:buNone/>
            </a:pPr>
            <a:r>
              <a:rPr lang="en-US" sz="1300" dirty="0">
                <a:solidFill>
                  <a:schemeClr val="tx1"/>
                </a:solidFill>
              </a:rPr>
              <a:t>Back to step 1; typing exit ends the session</a:t>
            </a:r>
            <a:endParaRPr lang="en-US" sz="1300" dirty="0"/>
          </a:p>
        </p:txBody>
      </p:sp>
      <p:sp>
        <p:nvSpPr>
          <p:cNvPr id="52" name="Shape 50"/>
          <p:cNvSpPr/>
          <p:nvPr/>
        </p:nvSpPr>
        <p:spPr>
          <a:xfrm>
            <a:off x="3840480" y="2011680"/>
            <a:ext cx="594360" cy="0"/>
          </a:xfrm>
          <a:prstGeom prst="line">
            <a:avLst/>
          </a:prstGeom>
          <a:noFill/>
          <a:ln w="28575">
            <a:solidFill>
              <a:schemeClr val="accent1"/>
            </a:solidFill>
            <a:prstDash val="solid"/>
            <a:tailEnd type="triangle"/>
          </a:ln>
        </p:spPr>
      </p:sp>
      <p:sp>
        <p:nvSpPr>
          <p:cNvPr id="53" name="Shape 51"/>
          <p:cNvSpPr/>
          <p:nvPr/>
        </p:nvSpPr>
        <p:spPr>
          <a:xfrm>
            <a:off x="7726680" y="2011680"/>
            <a:ext cx="594360" cy="0"/>
          </a:xfrm>
          <a:prstGeom prst="line">
            <a:avLst/>
          </a:prstGeom>
          <a:noFill/>
          <a:ln w="28575">
            <a:solidFill>
              <a:schemeClr val="accent1"/>
            </a:solidFill>
            <a:prstDash val="solid"/>
            <a:tailEnd type="triangle"/>
          </a:ln>
        </p:spPr>
      </p:sp>
      <p:sp>
        <p:nvSpPr>
          <p:cNvPr id="54" name="Shape 52"/>
          <p:cNvSpPr/>
          <p:nvPr/>
        </p:nvSpPr>
        <p:spPr>
          <a:xfrm>
            <a:off x="9144000" y="2606040"/>
            <a:ext cx="0" cy="502920"/>
          </a:xfrm>
          <a:prstGeom prst="line">
            <a:avLst/>
          </a:prstGeom>
          <a:noFill/>
          <a:ln w="28575">
            <a:solidFill>
              <a:schemeClr val="accent1"/>
            </a:solidFill>
            <a:prstDash val="solid"/>
            <a:tailEnd type="triangle"/>
          </a:ln>
        </p:spPr>
      </p:sp>
      <p:sp>
        <p:nvSpPr>
          <p:cNvPr id="55" name="Shape 53"/>
          <p:cNvSpPr/>
          <p:nvPr/>
        </p:nvSpPr>
        <p:spPr>
          <a:xfrm flipH="1">
            <a:off x="7726680" y="3703320"/>
            <a:ext cx="594360" cy="0"/>
          </a:xfrm>
          <a:prstGeom prst="line">
            <a:avLst/>
          </a:prstGeom>
          <a:noFill/>
          <a:ln w="28575">
            <a:solidFill>
              <a:schemeClr val="accent1"/>
            </a:solidFill>
            <a:prstDash val="solid"/>
            <a:tailEnd type="triangle"/>
          </a:ln>
        </p:spPr>
      </p:sp>
      <p:sp>
        <p:nvSpPr>
          <p:cNvPr id="56" name="Shape 54"/>
          <p:cNvSpPr/>
          <p:nvPr/>
        </p:nvSpPr>
        <p:spPr>
          <a:xfrm flipH="1">
            <a:off x="3840480" y="3703320"/>
            <a:ext cx="594360" cy="0"/>
          </a:xfrm>
          <a:prstGeom prst="line">
            <a:avLst/>
          </a:prstGeom>
          <a:noFill/>
          <a:ln w="28575">
            <a:solidFill>
              <a:schemeClr val="accent1"/>
            </a:solidFill>
            <a:prstDash val="solid"/>
            <a:tailEnd type="triangle"/>
          </a:ln>
        </p:spPr>
      </p:sp>
      <p:sp>
        <p:nvSpPr>
          <p:cNvPr id="57" name="Shape 55"/>
          <p:cNvSpPr/>
          <p:nvPr/>
        </p:nvSpPr>
        <p:spPr>
          <a:xfrm>
            <a:off x="2194560" y="4297680"/>
            <a:ext cx="0" cy="502920"/>
          </a:xfrm>
          <a:prstGeom prst="line">
            <a:avLst/>
          </a:prstGeom>
          <a:noFill/>
          <a:ln w="28575">
            <a:solidFill>
              <a:schemeClr val="accent1"/>
            </a:solidFill>
            <a:prstDash val="solid"/>
            <a:tailEnd type="triangle"/>
          </a:ln>
        </p:spPr>
      </p:sp>
      <p:sp>
        <p:nvSpPr>
          <p:cNvPr id="58" name="Shape 56"/>
          <p:cNvSpPr/>
          <p:nvPr/>
        </p:nvSpPr>
        <p:spPr>
          <a:xfrm>
            <a:off x="3840480" y="5394960"/>
            <a:ext cx="594360" cy="0"/>
          </a:xfrm>
          <a:prstGeom prst="line">
            <a:avLst/>
          </a:prstGeom>
          <a:noFill/>
          <a:ln w="28575">
            <a:solidFill>
              <a:schemeClr val="accent1"/>
            </a:solidFill>
            <a:prstDash val="solid"/>
            <a:tailEnd type="triangle"/>
          </a:ln>
        </p:spPr>
      </p:sp>
      <p:sp>
        <p:nvSpPr>
          <p:cNvPr id="59" name="Shape 57"/>
          <p:cNvSpPr/>
          <p:nvPr/>
        </p:nvSpPr>
        <p:spPr>
          <a:xfrm>
            <a:off x="7726680" y="5394960"/>
            <a:ext cx="594360" cy="0"/>
          </a:xfrm>
          <a:prstGeom prst="line">
            <a:avLst/>
          </a:prstGeom>
          <a:noFill/>
          <a:ln w="28575">
            <a:solidFill>
              <a:schemeClr val="accent1"/>
            </a:solidFill>
            <a:prstDash val="solid"/>
            <a:tailEnd type="triangle"/>
          </a:ln>
        </p:spPr>
      </p:sp>
      <p:sp>
        <p:nvSpPr>
          <p:cNvPr id="60"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68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400" b="1" dirty="0">
                <a:solidFill>
                  <a:schemeClr val="tx2"/>
                </a:solidFill>
              </a:rPr>
              <a:t>Implementation Approach</a:t>
            </a:r>
            <a:endParaRPr lang="en-US" sz="3400" dirty="0"/>
          </a:p>
        </p:txBody>
      </p:sp>
      <p:sp>
        <p:nvSpPr>
          <p:cNvPr id="3" name="Stage 1"/>
          <p:cNvSpPr/>
          <p:nvPr/>
        </p:nvSpPr>
        <p:spPr>
          <a:xfrm>
            <a:off x="548640" y="1371600"/>
            <a:ext cx="5303520" cy="658368"/>
          </a:xfrm>
          <a:prstGeom prst="roundRect">
            <a:avLst>
              <a:gd name="adj" fmla="val 11111"/>
            </a:avLst>
          </a:prstGeom>
          <a:solidFill>
            <a:srgbClr val="EAF0F8"/>
          </a:solidFill>
          <a:ln/>
        </p:spPr>
      </p:sp>
      <p:sp>
        <p:nvSpPr>
          <p:cNvPr id="4" name="Shape 2"/>
          <p:cNvSpPr/>
          <p:nvPr/>
        </p:nvSpPr>
        <p:spPr>
          <a:xfrm>
            <a:off x="685800" y="1508760"/>
            <a:ext cx="384048" cy="384048"/>
          </a:xfrm>
          <a:prstGeom prst="ellipse">
            <a:avLst/>
          </a:prstGeom>
          <a:solidFill>
            <a:srgbClr val="0B2A5B"/>
          </a:solidFill>
          <a:ln/>
        </p:spPr>
      </p:sp>
      <p:sp>
        <p:nvSpPr>
          <p:cNvPr id="5" name="Text 3"/>
          <p:cNvSpPr txBox="1"/>
          <p:nvPr/>
        </p:nvSpPr>
        <p:spPr>
          <a:xfrm>
            <a:off x="685800" y="150876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6" name="Text 4"/>
          <p:cNvSpPr txBox="1"/>
          <p:nvPr/>
        </p:nvSpPr>
        <p:spPr>
          <a:xfrm>
            <a:off x="1280160" y="1371600"/>
            <a:ext cx="4480560" cy="658368"/>
          </a:xfrm>
          <a:prstGeom prst="rect">
            <a:avLst/>
          </a:prstGeom>
          <a:noFill/>
          <a:ln/>
        </p:spPr>
        <p:txBody>
          <a:bodyPr wrap="square" lIns="0" tIns="0" rIns="0" bIns="0" rtlCol="0" anchor="ctr"/>
          <a:lstStyle/>
          <a:p>
            <a:pPr marL="0" indent="0">
              <a:buNone/>
            </a:pPr>
            <a:r>
              <a:rPr lang="en-US" sz="1600" b="1" dirty="0">
                <a:solidFill>
                  <a:schemeClr val="tx2"/>
                </a:solidFill>
              </a:rPr>
              <a:t>Accept command input</a:t>
            </a:r>
            <a:endParaRPr lang="en-US" sz="1600" dirty="0"/>
          </a:p>
          <a:p>
            <a:pPr marL="0" indent="0">
              <a:buNone/>
            </a:pPr>
            <a:r>
              <a:rPr lang="en-US" sz="1200" dirty="0">
                <a:solidFill>
                  <a:schemeClr val="tx1"/>
                </a:solidFill>
                <a:latin typeface="Courier New" pitchFamily="34" charset="0"/>
                <a:ea typeface="Courier New" pitchFamily="34" charset="-122"/>
                <a:cs typeface="Courier New" pitchFamily="34" charset="-120"/>
              </a:rPr>
              <a:t>fgets() + validation + strtok()</a:t>
            </a:r>
            <a:endParaRPr lang="en-US" sz="1600" dirty="0"/>
          </a:p>
        </p:txBody>
      </p:sp>
      <p:sp>
        <p:nvSpPr>
          <p:cNvPr id="7" name="Stage 2"/>
          <p:cNvSpPr/>
          <p:nvPr/>
        </p:nvSpPr>
        <p:spPr>
          <a:xfrm>
            <a:off x="548640" y="2139696"/>
            <a:ext cx="5303520" cy="658368"/>
          </a:xfrm>
          <a:prstGeom prst="roundRect">
            <a:avLst>
              <a:gd name="adj" fmla="val 11111"/>
            </a:avLst>
          </a:prstGeom>
          <a:solidFill>
            <a:srgbClr val="EAF0F8"/>
          </a:solidFill>
          <a:ln/>
        </p:spPr>
      </p:sp>
      <p:sp>
        <p:nvSpPr>
          <p:cNvPr id="8" name="Shape 6"/>
          <p:cNvSpPr/>
          <p:nvPr/>
        </p:nvSpPr>
        <p:spPr>
          <a:xfrm>
            <a:off x="685800" y="2276856"/>
            <a:ext cx="384048" cy="384048"/>
          </a:xfrm>
          <a:prstGeom prst="ellipse">
            <a:avLst/>
          </a:prstGeom>
          <a:solidFill>
            <a:srgbClr val="0B2A5B"/>
          </a:solidFill>
          <a:ln/>
        </p:spPr>
      </p:sp>
      <p:sp>
        <p:nvSpPr>
          <p:cNvPr id="9" name="Text 7"/>
          <p:cNvSpPr txBox="1"/>
          <p:nvPr/>
        </p:nvSpPr>
        <p:spPr>
          <a:xfrm>
            <a:off x="685800" y="2276856"/>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0" name="Text 8"/>
          <p:cNvSpPr txBox="1"/>
          <p:nvPr/>
        </p:nvSpPr>
        <p:spPr>
          <a:xfrm>
            <a:off x="1280160" y="2139696"/>
            <a:ext cx="4480560" cy="658368"/>
          </a:xfrm>
          <a:prstGeom prst="rect">
            <a:avLst/>
          </a:prstGeom>
          <a:noFill/>
          <a:ln/>
        </p:spPr>
        <p:txBody>
          <a:bodyPr wrap="square" lIns="0" tIns="0" rIns="0" bIns="0" rtlCol="0" anchor="ctr"/>
          <a:lstStyle/>
          <a:p>
            <a:pPr marL="0" indent="0">
              <a:buNone/>
            </a:pPr>
            <a:r>
              <a:rPr lang="en-US" sz="1600" b="1" dirty="0">
                <a:solidFill>
                  <a:schemeClr val="tx2"/>
                </a:solidFill>
              </a:rPr>
              <a:t>Create a child process</a:t>
            </a:r>
            <a:endParaRPr lang="en-US" sz="1600" dirty="0"/>
          </a:p>
          <a:p>
            <a:pPr marL="0" indent="0">
              <a:buNone/>
            </a:pPr>
            <a:r>
              <a:rPr lang="en-US" sz="1200" dirty="0">
                <a:solidFill>
                  <a:schemeClr val="tx1"/>
                </a:solidFill>
                <a:latin typeface="Courier New" pitchFamily="34" charset="0"/>
                <a:ea typeface="Courier New" pitchFamily="34" charset="-122"/>
                <a:cs typeface="Courier New" pitchFamily="34" charset="-120"/>
              </a:rPr>
              <a:t>fork()</a:t>
            </a:r>
            <a:endParaRPr lang="en-US" sz="1600" dirty="0"/>
          </a:p>
        </p:txBody>
      </p:sp>
      <p:sp>
        <p:nvSpPr>
          <p:cNvPr id="11" name="Stage 3"/>
          <p:cNvSpPr/>
          <p:nvPr/>
        </p:nvSpPr>
        <p:spPr>
          <a:xfrm>
            <a:off x="548640" y="2907792"/>
            <a:ext cx="5303520" cy="658368"/>
          </a:xfrm>
          <a:prstGeom prst="roundRect">
            <a:avLst>
              <a:gd name="adj" fmla="val 11111"/>
            </a:avLst>
          </a:prstGeom>
          <a:solidFill>
            <a:srgbClr val="EAF0F8"/>
          </a:solidFill>
          <a:ln/>
        </p:spPr>
      </p:sp>
      <p:sp>
        <p:nvSpPr>
          <p:cNvPr id="12" name="Shape 10"/>
          <p:cNvSpPr/>
          <p:nvPr/>
        </p:nvSpPr>
        <p:spPr>
          <a:xfrm>
            <a:off x="685800" y="3044952"/>
            <a:ext cx="384048" cy="384048"/>
          </a:xfrm>
          <a:prstGeom prst="ellipse">
            <a:avLst/>
          </a:prstGeom>
          <a:solidFill>
            <a:srgbClr val="0B2A5B"/>
          </a:solidFill>
          <a:ln/>
        </p:spPr>
      </p:sp>
      <p:sp>
        <p:nvSpPr>
          <p:cNvPr id="13" name="Text 11"/>
          <p:cNvSpPr txBox="1"/>
          <p:nvPr/>
        </p:nvSpPr>
        <p:spPr>
          <a:xfrm>
            <a:off x="685800" y="304495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4" name="Text 12"/>
          <p:cNvSpPr txBox="1"/>
          <p:nvPr/>
        </p:nvSpPr>
        <p:spPr>
          <a:xfrm>
            <a:off x="1280160" y="2907792"/>
            <a:ext cx="4480560" cy="658368"/>
          </a:xfrm>
          <a:prstGeom prst="rect">
            <a:avLst/>
          </a:prstGeom>
          <a:noFill/>
          <a:ln/>
        </p:spPr>
        <p:txBody>
          <a:bodyPr wrap="square" lIns="0" tIns="0" rIns="0" bIns="0" rtlCol="0" anchor="ctr"/>
          <a:lstStyle/>
          <a:p>
            <a:pPr marL="0" indent="0">
              <a:buNone/>
            </a:pPr>
            <a:r>
              <a:rPr lang="en-US" sz="1600" b="1" dirty="0">
                <a:solidFill>
                  <a:schemeClr val="tx2"/>
                </a:solidFill>
              </a:rPr>
              <a:t>Execute the command</a:t>
            </a:r>
            <a:endParaRPr lang="en-US" sz="1600" dirty="0"/>
          </a:p>
          <a:p>
            <a:pPr marL="0" indent="0">
              <a:buNone/>
            </a:pPr>
            <a:r>
              <a:rPr lang="en-US" sz="1200" dirty="0">
                <a:solidFill>
                  <a:schemeClr val="tx1"/>
                </a:solidFill>
                <a:latin typeface="Courier New" pitchFamily="34" charset="0"/>
                <a:ea typeface="Courier New" pitchFamily="34" charset="-122"/>
                <a:cs typeface="Courier New" pitchFamily="34" charset="-120"/>
              </a:rPr>
              <a:t>execvp() in the child</a:t>
            </a:r>
            <a:endParaRPr lang="en-US" sz="1600" dirty="0"/>
          </a:p>
        </p:txBody>
      </p:sp>
      <p:sp>
        <p:nvSpPr>
          <p:cNvPr id="15" name="Stage 4"/>
          <p:cNvSpPr/>
          <p:nvPr/>
        </p:nvSpPr>
        <p:spPr>
          <a:xfrm>
            <a:off x="548640" y="3675888"/>
            <a:ext cx="5303520" cy="658368"/>
          </a:xfrm>
          <a:prstGeom prst="roundRect">
            <a:avLst>
              <a:gd name="adj" fmla="val 11111"/>
            </a:avLst>
          </a:prstGeom>
          <a:solidFill>
            <a:srgbClr val="EAF0F8"/>
          </a:solidFill>
          <a:ln/>
        </p:spPr>
      </p:sp>
      <p:sp>
        <p:nvSpPr>
          <p:cNvPr id="16" name="Shape 14"/>
          <p:cNvSpPr/>
          <p:nvPr/>
        </p:nvSpPr>
        <p:spPr>
          <a:xfrm>
            <a:off x="685800" y="3813048"/>
            <a:ext cx="384048" cy="384048"/>
          </a:xfrm>
          <a:prstGeom prst="ellipse">
            <a:avLst/>
          </a:prstGeom>
          <a:solidFill>
            <a:srgbClr val="0B2A5B"/>
          </a:solidFill>
          <a:ln/>
        </p:spPr>
      </p:sp>
      <p:sp>
        <p:nvSpPr>
          <p:cNvPr id="17" name="Text 15"/>
          <p:cNvSpPr txBox="1"/>
          <p:nvPr/>
        </p:nvSpPr>
        <p:spPr>
          <a:xfrm>
            <a:off x="685800" y="381304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18" name="Text 16"/>
          <p:cNvSpPr txBox="1"/>
          <p:nvPr/>
        </p:nvSpPr>
        <p:spPr>
          <a:xfrm>
            <a:off x="1280160" y="3675888"/>
            <a:ext cx="4480560" cy="658368"/>
          </a:xfrm>
          <a:prstGeom prst="rect">
            <a:avLst/>
          </a:prstGeom>
          <a:noFill/>
          <a:ln/>
        </p:spPr>
        <p:txBody>
          <a:bodyPr wrap="square" lIns="0" tIns="0" rIns="0" bIns="0" rtlCol="0" anchor="ctr"/>
          <a:lstStyle/>
          <a:p>
            <a:pPr marL="0" indent="0">
              <a:buNone/>
            </a:pPr>
            <a:r>
              <a:rPr lang="en-US" sz="1600" b="1" dirty="0">
                <a:solidFill>
                  <a:schemeClr val="tx2"/>
                </a:solidFill>
              </a:rPr>
              <a:t>Measure elapsed time</a:t>
            </a:r>
            <a:endParaRPr lang="en-US" sz="1600" dirty="0"/>
          </a:p>
          <a:p>
            <a:pPr marL="0" indent="0">
              <a:buNone/>
            </a:pPr>
            <a:r>
              <a:rPr lang="en-US" sz="1200" dirty="0">
                <a:solidFill>
                  <a:schemeClr val="tx1"/>
                </a:solidFill>
                <a:latin typeface="Courier New" pitchFamily="34" charset="0"/>
                <a:ea typeface="Courier New" pitchFamily="34" charset="-122"/>
                <a:cs typeface="Courier New" pitchFamily="34" charset="-120"/>
              </a:rPr>
              <a:t>clock_gettime(CLOCK_MONOTONIC)</a:t>
            </a:r>
            <a:endParaRPr lang="en-US" sz="1600" dirty="0"/>
          </a:p>
        </p:txBody>
      </p:sp>
      <p:sp>
        <p:nvSpPr>
          <p:cNvPr id="19" name="Stage 5"/>
          <p:cNvSpPr/>
          <p:nvPr/>
        </p:nvSpPr>
        <p:spPr>
          <a:xfrm>
            <a:off x="548640" y="4443984"/>
            <a:ext cx="5303520" cy="658368"/>
          </a:xfrm>
          <a:prstGeom prst="roundRect">
            <a:avLst>
              <a:gd name="adj" fmla="val 11111"/>
            </a:avLst>
          </a:prstGeom>
          <a:solidFill>
            <a:srgbClr val="EAF0F8"/>
          </a:solidFill>
          <a:ln/>
        </p:spPr>
      </p:sp>
      <p:sp>
        <p:nvSpPr>
          <p:cNvPr id="20" name="Shape 18"/>
          <p:cNvSpPr/>
          <p:nvPr/>
        </p:nvSpPr>
        <p:spPr>
          <a:xfrm>
            <a:off x="685800" y="4581144"/>
            <a:ext cx="384048" cy="384048"/>
          </a:xfrm>
          <a:prstGeom prst="ellipse">
            <a:avLst/>
          </a:prstGeom>
          <a:solidFill>
            <a:srgbClr val="0B2A5B"/>
          </a:solidFill>
          <a:ln/>
        </p:spPr>
      </p:sp>
      <p:sp>
        <p:nvSpPr>
          <p:cNvPr id="21" name="Text 19"/>
          <p:cNvSpPr txBox="1"/>
          <p:nvPr/>
        </p:nvSpPr>
        <p:spPr>
          <a:xfrm>
            <a:off x="685800" y="4581144"/>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rPr>
              <a:t>5</a:t>
            </a:r>
            <a:endParaRPr lang="en-US" sz="1400" dirty="0"/>
          </a:p>
        </p:txBody>
      </p:sp>
      <p:sp>
        <p:nvSpPr>
          <p:cNvPr id="22" name="Text 20"/>
          <p:cNvSpPr txBox="1"/>
          <p:nvPr/>
        </p:nvSpPr>
        <p:spPr>
          <a:xfrm>
            <a:off x="1280160" y="4443984"/>
            <a:ext cx="4480560" cy="658368"/>
          </a:xfrm>
          <a:prstGeom prst="rect">
            <a:avLst/>
          </a:prstGeom>
          <a:noFill/>
          <a:ln/>
        </p:spPr>
        <p:txBody>
          <a:bodyPr wrap="square" lIns="0" tIns="0" rIns="0" bIns="0" rtlCol="0" anchor="ctr"/>
          <a:lstStyle/>
          <a:p>
            <a:pPr marL="0" indent="0">
              <a:buNone/>
            </a:pPr>
            <a:r>
              <a:rPr lang="en-US" sz="1600" b="1" dirty="0">
                <a:solidFill>
                  <a:schemeClr val="tx2"/>
                </a:solidFill>
              </a:rPr>
              <a:t>Collect CPU and memory usage</a:t>
            </a:r>
            <a:endParaRPr lang="en-US" sz="1600" dirty="0"/>
          </a:p>
          <a:p>
            <a:pPr marL="0" indent="0">
              <a:buNone/>
            </a:pPr>
            <a:r>
              <a:rPr lang="en-US" sz="1200" dirty="0">
                <a:solidFill>
                  <a:schemeClr val="tx1"/>
                </a:solidFill>
                <a:latin typeface="Courier New" pitchFamily="34" charset="0"/>
                <a:ea typeface="Courier New" pitchFamily="34" charset="-122"/>
                <a:cs typeface="Courier New" pitchFamily="34" charset="-120"/>
              </a:rPr>
              <a:t>wait4() fills struct rusage</a:t>
            </a:r>
            <a:endParaRPr lang="en-US" sz="1600" dirty="0"/>
          </a:p>
        </p:txBody>
      </p:sp>
      <p:sp>
        <p:nvSpPr>
          <p:cNvPr id="23" name="Stage 6"/>
          <p:cNvSpPr/>
          <p:nvPr/>
        </p:nvSpPr>
        <p:spPr>
          <a:xfrm>
            <a:off x="548640" y="5212080"/>
            <a:ext cx="5303520" cy="658368"/>
          </a:xfrm>
          <a:prstGeom prst="roundRect">
            <a:avLst>
              <a:gd name="adj" fmla="val 11111"/>
            </a:avLst>
          </a:prstGeom>
          <a:solidFill>
            <a:srgbClr val="EAF0F8"/>
          </a:solidFill>
          <a:ln/>
        </p:spPr>
      </p:sp>
      <p:sp>
        <p:nvSpPr>
          <p:cNvPr id="24" name="Shape 22"/>
          <p:cNvSpPr/>
          <p:nvPr/>
        </p:nvSpPr>
        <p:spPr>
          <a:xfrm>
            <a:off x="685800" y="5349240"/>
            <a:ext cx="384048" cy="384048"/>
          </a:xfrm>
          <a:prstGeom prst="ellipse">
            <a:avLst/>
          </a:prstGeom>
          <a:solidFill>
            <a:srgbClr val="0B2A5B"/>
          </a:solidFill>
          <a:ln/>
        </p:spPr>
      </p:sp>
      <p:sp>
        <p:nvSpPr>
          <p:cNvPr id="25" name="Text 23"/>
          <p:cNvSpPr txBox="1"/>
          <p:nvPr/>
        </p:nvSpPr>
        <p:spPr>
          <a:xfrm>
            <a:off x="685800" y="534924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rPr>
              <a:t>6</a:t>
            </a:r>
            <a:endParaRPr lang="en-US" sz="1400" dirty="0"/>
          </a:p>
        </p:txBody>
      </p:sp>
      <p:sp>
        <p:nvSpPr>
          <p:cNvPr id="26" name="Text 24"/>
          <p:cNvSpPr txBox="1"/>
          <p:nvPr/>
        </p:nvSpPr>
        <p:spPr>
          <a:xfrm>
            <a:off x="1280160" y="5212080"/>
            <a:ext cx="4480560" cy="658368"/>
          </a:xfrm>
          <a:prstGeom prst="rect">
            <a:avLst/>
          </a:prstGeom>
          <a:noFill/>
          <a:ln/>
        </p:spPr>
        <p:txBody>
          <a:bodyPr wrap="square" lIns="0" tIns="0" rIns="0" bIns="0" rtlCol="0" anchor="ctr"/>
          <a:lstStyle/>
          <a:p>
            <a:pPr marL="0" indent="0">
              <a:buNone/>
            </a:pPr>
            <a:r>
              <a:rPr lang="en-US" sz="1600" b="1" dirty="0">
                <a:solidFill>
                  <a:schemeClr val="tx2"/>
                </a:solidFill>
              </a:rPr>
              <a:t>Display the execution report</a:t>
            </a:r>
            <a:endParaRPr lang="en-US" sz="1600" dirty="0"/>
          </a:p>
          <a:p>
            <a:pPr marL="0" indent="0">
              <a:buNone/>
            </a:pPr>
            <a:r>
              <a:rPr lang="en-US" sz="1200" dirty="0">
                <a:solidFill>
                  <a:schemeClr val="tx1"/>
                </a:solidFill>
                <a:latin typeface="Courier New" pitchFamily="34" charset="0"/>
                <a:ea typeface="Courier New" pitchFamily="34" charset="-122"/>
                <a:cs typeface="Courier New" pitchFamily="34" charset="-120"/>
              </a:rPr>
              <a:t>printf() report + exit status</a:t>
            </a:r>
            <a:endParaRPr lang="en-US" sz="1600" dirty="0"/>
          </a:p>
        </p:txBody>
      </p:sp>
      <p:pic>
        <p:nvPicPr>
          <p:cNvPr id="27" name="Compile screenshot" descr="Terminal screenshot: nano, gcc compile and ./profiler start"/>
          <p:cNvPicPr>
            <a:picLocks noChangeAspect="1"/>
          </p:cNvPicPr>
          <p:nvPr/>
        </p:nvPicPr>
        <p:blipFill>
          <a:blip r:embed="rId3"/>
          <a:stretch>
            <a:fillRect/>
          </a:stretch>
        </p:blipFill>
        <p:spPr>
          <a:xfrm>
            <a:off x="6126480" y="1371600"/>
            <a:ext cx="5486400" cy="1681038"/>
          </a:xfrm>
          <a:prstGeom prst="rect">
            <a:avLst/>
          </a:prstGeom>
        </p:spPr>
      </p:pic>
      <p:sp>
        <p:nvSpPr>
          <p:cNvPr id="28" name="Shape 25"/>
          <p:cNvSpPr/>
          <p:nvPr/>
        </p:nvSpPr>
        <p:spPr>
          <a:xfrm>
            <a:off x="6126480" y="1371600"/>
            <a:ext cx="5486400" cy="1681038"/>
          </a:xfrm>
          <a:prstGeom prst="rect">
            <a:avLst/>
          </a:prstGeom>
          <a:ln w="12700">
            <a:solidFill>
              <a:srgbClr val="0B2A5B"/>
            </a:solidFill>
            <a:prstDash val="solid"/>
          </a:ln>
        </p:spPr>
      </p:sp>
      <p:sp>
        <p:nvSpPr>
          <p:cNvPr id="29" name="Text 26"/>
          <p:cNvSpPr txBox="1"/>
          <p:nvPr/>
        </p:nvSpPr>
        <p:spPr>
          <a:xfrm>
            <a:off x="6126480" y="3098358"/>
            <a:ext cx="5486400" cy="256032"/>
          </a:xfrm>
          <a:prstGeom prst="rect">
            <a:avLst/>
          </a:prstGeom>
          <a:noFill/>
          <a:ln/>
        </p:spPr>
        <p:txBody>
          <a:bodyPr wrap="square" lIns="0" tIns="0" rIns="0" bIns="0" rtlCol="0" anchor="t"/>
          <a:lstStyle/>
          <a:p>
            <a:pPr marL="0" indent="0">
              <a:buNone/>
            </a:pPr>
            <a:r>
              <a:rPr lang="en-US" sz="1100" i="1" dirty="0">
                <a:solidFill>
                  <a:schemeClr val="accent3"/>
                </a:solidFill>
              </a:rPr>
              <a:t>Actual terminal: compile and start the profiler</a:t>
            </a:r>
            <a:endParaRPr lang="en-US" sz="1100" dirty="0"/>
          </a:p>
        </p:txBody>
      </p:sp>
      <p:sp>
        <p:nvSpPr>
          <p:cNvPr id="30" name="Text 27"/>
          <p:cNvSpPr txBox="1"/>
          <p:nvPr/>
        </p:nvSpPr>
        <p:spPr>
          <a:xfrm>
            <a:off x="6126480" y="3520440"/>
            <a:ext cx="3657600" cy="256032"/>
          </a:xfrm>
          <a:prstGeom prst="rect">
            <a:avLst/>
          </a:prstGeom>
          <a:noFill/>
          <a:ln/>
        </p:spPr>
        <p:txBody>
          <a:bodyPr wrap="square" lIns="0" tIns="0" rIns="0" bIns="0" rtlCol="0" anchor="t"/>
          <a:lstStyle/>
          <a:p>
            <a:pPr marL="0" indent="0">
              <a:buNone/>
            </a:pPr>
            <a:r>
              <a:rPr lang="en-US" sz="1200" b="1" kern="0" spc="200" dirty="0">
                <a:solidFill>
                  <a:schemeClr val="accent1"/>
                </a:solidFill>
              </a:rPr>
              <a:t>REPORT FIELDS</a:t>
            </a:r>
            <a:endParaRPr lang="en-US" sz="1200" dirty="0"/>
          </a:p>
        </p:txBody>
      </p:sp>
      <p:sp>
        <p:nvSpPr>
          <p:cNvPr id="31" name="Shape 28"/>
          <p:cNvSpPr/>
          <p:nvPr/>
        </p:nvSpPr>
        <p:spPr>
          <a:xfrm>
            <a:off x="6126480" y="3840480"/>
            <a:ext cx="1737360" cy="393192"/>
          </a:xfrm>
          <a:prstGeom prst="roundRect">
            <a:avLst>
              <a:gd name="adj" fmla="val 18605"/>
            </a:avLst>
          </a:prstGeom>
          <a:solidFill>
            <a:srgbClr val="EAF0F8"/>
          </a:solidFill>
          <a:ln w="12700">
            <a:solidFill>
              <a:srgbClr val="1F4E9E"/>
            </a:solidFill>
            <a:prstDash val="solid"/>
          </a:ln>
        </p:spPr>
      </p:sp>
      <p:sp>
        <p:nvSpPr>
          <p:cNvPr id="32" name="Text 29"/>
          <p:cNvSpPr txBox="1"/>
          <p:nvPr/>
        </p:nvSpPr>
        <p:spPr>
          <a:xfrm>
            <a:off x="6126480" y="3840480"/>
            <a:ext cx="1737360" cy="393192"/>
          </a:xfrm>
          <a:prstGeom prst="rect">
            <a:avLst/>
          </a:prstGeom>
          <a:noFill/>
          <a:ln/>
        </p:spPr>
        <p:txBody>
          <a:bodyPr wrap="square" lIns="0" tIns="0" rIns="0" bIns="0" rtlCol="0" anchor="ctr"/>
          <a:lstStyle/>
          <a:p>
            <a:pPr marL="0" indent="0" algn="ctr">
              <a:buNone/>
            </a:pPr>
            <a:r>
              <a:rPr lang="en-US" sz="1300" b="1" dirty="0">
                <a:solidFill>
                  <a:schemeClr val="tx2"/>
                </a:solidFill>
              </a:rPr>
              <a:t>Command</a:t>
            </a:r>
            <a:endParaRPr lang="en-US" sz="1300" dirty="0"/>
          </a:p>
        </p:txBody>
      </p:sp>
      <p:sp>
        <p:nvSpPr>
          <p:cNvPr id="33" name="Shape 30"/>
          <p:cNvSpPr/>
          <p:nvPr/>
        </p:nvSpPr>
        <p:spPr>
          <a:xfrm>
            <a:off x="8001000" y="3840480"/>
            <a:ext cx="1737360" cy="393192"/>
          </a:xfrm>
          <a:prstGeom prst="roundRect">
            <a:avLst>
              <a:gd name="adj" fmla="val 18605"/>
            </a:avLst>
          </a:prstGeom>
          <a:solidFill>
            <a:srgbClr val="EAF0F8"/>
          </a:solidFill>
          <a:ln w="12700">
            <a:solidFill>
              <a:srgbClr val="1F4E9E"/>
            </a:solidFill>
            <a:prstDash val="solid"/>
          </a:ln>
        </p:spPr>
      </p:sp>
      <p:sp>
        <p:nvSpPr>
          <p:cNvPr id="34" name="Text 31"/>
          <p:cNvSpPr txBox="1"/>
          <p:nvPr/>
        </p:nvSpPr>
        <p:spPr>
          <a:xfrm>
            <a:off x="8001000" y="3840480"/>
            <a:ext cx="1737360" cy="393192"/>
          </a:xfrm>
          <a:prstGeom prst="rect">
            <a:avLst/>
          </a:prstGeom>
          <a:noFill/>
          <a:ln/>
        </p:spPr>
        <p:txBody>
          <a:bodyPr wrap="square" lIns="0" tIns="0" rIns="0" bIns="0" rtlCol="0" anchor="ctr"/>
          <a:lstStyle/>
          <a:p>
            <a:pPr marL="0" indent="0" algn="ctr">
              <a:buNone/>
            </a:pPr>
            <a:r>
              <a:rPr lang="en-US" sz="1300" b="1" dirty="0">
                <a:solidFill>
                  <a:schemeClr val="tx2"/>
                </a:solidFill>
              </a:rPr>
              <a:t>Execution time</a:t>
            </a:r>
            <a:endParaRPr lang="en-US" sz="1300" dirty="0"/>
          </a:p>
        </p:txBody>
      </p:sp>
      <p:sp>
        <p:nvSpPr>
          <p:cNvPr id="35" name="Shape 32"/>
          <p:cNvSpPr/>
          <p:nvPr/>
        </p:nvSpPr>
        <p:spPr>
          <a:xfrm>
            <a:off x="9875520" y="3840480"/>
            <a:ext cx="1737360" cy="393192"/>
          </a:xfrm>
          <a:prstGeom prst="roundRect">
            <a:avLst>
              <a:gd name="adj" fmla="val 18605"/>
            </a:avLst>
          </a:prstGeom>
          <a:solidFill>
            <a:srgbClr val="EAF0F8"/>
          </a:solidFill>
          <a:ln w="12700">
            <a:solidFill>
              <a:srgbClr val="1F4E9E"/>
            </a:solidFill>
            <a:prstDash val="solid"/>
          </a:ln>
        </p:spPr>
      </p:sp>
      <p:sp>
        <p:nvSpPr>
          <p:cNvPr id="36" name="Text 33"/>
          <p:cNvSpPr txBox="1"/>
          <p:nvPr/>
        </p:nvSpPr>
        <p:spPr>
          <a:xfrm>
            <a:off x="9875520" y="3840480"/>
            <a:ext cx="1737360" cy="393192"/>
          </a:xfrm>
          <a:prstGeom prst="rect">
            <a:avLst/>
          </a:prstGeom>
          <a:noFill/>
          <a:ln/>
        </p:spPr>
        <p:txBody>
          <a:bodyPr wrap="square" lIns="0" tIns="0" rIns="0" bIns="0" rtlCol="0" anchor="ctr"/>
          <a:lstStyle/>
          <a:p>
            <a:pPr marL="0" indent="0" algn="ctr">
              <a:buNone/>
            </a:pPr>
            <a:r>
              <a:rPr lang="en-US" sz="1300" b="1" dirty="0">
                <a:solidFill>
                  <a:schemeClr val="tx2"/>
                </a:solidFill>
              </a:rPr>
              <a:t>User CPU time</a:t>
            </a:r>
            <a:endParaRPr lang="en-US" sz="1300" dirty="0"/>
          </a:p>
        </p:txBody>
      </p:sp>
      <p:sp>
        <p:nvSpPr>
          <p:cNvPr id="37" name="Shape 34"/>
          <p:cNvSpPr/>
          <p:nvPr/>
        </p:nvSpPr>
        <p:spPr>
          <a:xfrm>
            <a:off x="6126480" y="4343400"/>
            <a:ext cx="1737360" cy="393192"/>
          </a:xfrm>
          <a:prstGeom prst="roundRect">
            <a:avLst>
              <a:gd name="adj" fmla="val 18605"/>
            </a:avLst>
          </a:prstGeom>
          <a:solidFill>
            <a:srgbClr val="EAF0F8"/>
          </a:solidFill>
          <a:ln w="12700">
            <a:solidFill>
              <a:srgbClr val="1F4E9E"/>
            </a:solidFill>
            <a:prstDash val="solid"/>
          </a:ln>
        </p:spPr>
      </p:sp>
      <p:sp>
        <p:nvSpPr>
          <p:cNvPr id="38" name="Text 35"/>
          <p:cNvSpPr txBox="1"/>
          <p:nvPr/>
        </p:nvSpPr>
        <p:spPr>
          <a:xfrm>
            <a:off x="6126480" y="4343400"/>
            <a:ext cx="1737360" cy="393192"/>
          </a:xfrm>
          <a:prstGeom prst="rect">
            <a:avLst/>
          </a:prstGeom>
          <a:noFill/>
          <a:ln/>
        </p:spPr>
        <p:txBody>
          <a:bodyPr wrap="square" lIns="0" tIns="0" rIns="0" bIns="0" rtlCol="0" anchor="ctr"/>
          <a:lstStyle/>
          <a:p>
            <a:pPr marL="0" indent="0" algn="ctr">
              <a:buNone/>
            </a:pPr>
            <a:r>
              <a:rPr lang="en-US" sz="1300" b="1" dirty="0">
                <a:solidFill>
                  <a:schemeClr val="tx2"/>
                </a:solidFill>
              </a:rPr>
              <a:t>System CPU time</a:t>
            </a:r>
            <a:endParaRPr lang="en-US" sz="1300" dirty="0"/>
          </a:p>
        </p:txBody>
      </p:sp>
      <p:sp>
        <p:nvSpPr>
          <p:cNvPr id="39" name="Shape 36"/>
          <p:cNvSpPr/>
          <p:nvPr/>
        </p:nvSpPr>
        <p:spPr>
          <a:xfrm>
            <a:off x="8001000" y="4343400"/>
            <a:ext cx="1737360" cy="393192"/>
          </a:xfrm>
          <a:prstGeom prst="roundRect">
            <a:avLst>
              <a:gd name="adj" fmla="val 18605"/>
            </a:avLst>
          </a:prstGeom>
          <a:solidFill>
            <a:srgbClr val="EAF0F8"/>
          </a:solidFill>
          <a:ln w="12700">
            <a:solidFill>
              <a:srgbClr val="1F4E9E"/>
            </a:solidFill>
            <a:prstDash val="solid"/>
          </a:ln>
        </p:spPr>
      </p:sp>
      <p:sp>
        <p:nvSpPr>
          <p:cNvPr id="40" name="Text 37"/>
          <p:cNvSpPr txBox="1"/>
          <p:nvPr/>
        </p:nvSpPr>
        <p:spPr>
          <a:xfrm>
            <a:off x="8001000" y="4343400"/>
            <a:ext cx="1737360" cy="393192"/>
          </a:xfrm>
          <a:prstGeom prst="rect">
            <a:avLst/>
          </a:prstGeom>
          <a:noFill/>
          <a:ln/>
        </p:spPr>
        <p:txBody>
          <a:bodyPr wrap="square" lIns="0" tIns="0" rIns="0" bIns="0" rtlCol="0" anchor="ctr"/>
          <a:lstStyle/>
          <a:p>
            <a:pPr marL="0" indent="0" algn="ctr">
              <a:buNone/>
            </a:pPr>
            <a:r>
              <a:rPr lang="en-US" sz="1300" b="1" dirty="0">
                <a:solidFill>
                  <a:schemeClr val="tx2"/>
                </a:solidFill>
              </a:rPr>
              <a:t>Maximum memory</a:t>
            </a:r>
            <a:endParaRPr lang="en-US" sz="1300" dirty="0"/>
          </a:p>
        </p:txBody>
      </p:sp>
      <p:sp>
        <p:nvSpPr>
          <p:cNvPr id="41" name="Shape 38"/>
          <p:cNvSpPr/>
          <p:nvPr/>
        </p:nvSpPr>
        <p:spPr>
          <a:xfrm>
            <a:off x="9875520" y="4343400"/>
            <a:ext cx="1737360" cy="393192"/>
          </a:xfrm>
          <a:prstGeom prst="roundRect">
            <a:avLst>
              <a:gd name="adj" fmla="val 18605"/>
            </a:avLst>
          </a:prstGeom>
          <a:solidFill>
            <a:srgbClr val="EAF0F8"/>
          </a:solidFill>
          <a:ln w="12700">
            <a:solidFill>
              <a:srgbClr val="1F4E9E"/>
            </a:solidFill>
            <a:prstDash val="solid"/>
          </a:ln>
        </p:spPr>
      </p:sp>
      <p:sp>
        <p:nvSpPr>
          <p:cNvPr id="42" name="Text 39"/>
          <p:cNvSpPr txBox="1"/>
          <p:nvPr/>
        </p:nvSpPr>
        <p:spPr>
          <a:xfrm>
            <a:off x="9875520" y="4343400"/>
            <a:ext cx="1737360" cy="393192"/>
          </a:xfrm>
          <a:prstGeom prst="rect">
            <a:avLst/>
          </a:prstGeom>
          <a:noFill/>
          <a:ln/>
        </p:spPr>
        <p:txBody>
          <a:bodyPr wrap="square" lIns="0" tIns="0" rIns="0" bIns="0" rtlCol="0" anchor="ctr"/>
          <a:lstStyle/>
          <a:p>
            <a:pPr marL="0" indent="0" algn="ctr">
              <a:buNone/>
            </a:pPr>
            <a:r>
              <a:rPr lang="en-US" sz="1300" b="1" dirty="0">
                <a:solidFill>
                  <a:schemeClr val="tx2"/>
                </a:solidFill>
              </a:rPr>
              <a:t>Exit status</a:t>
            </a:r>
            <a:endParaRPr lang="en-US" sz="1300" dirty="0"/>
          </a:p>
        </p:txBody>
      </p:sp>
      <p:sp>
        <p:nvSpPr>
          <p:cNvPr id="43" name="Compile command"/>
          <p:cNvSpPr/>
          <p:nvPr/>
        </p:nvSpPr>
        <p:spPr>
          <a:xfrm>
            <a:off x="6126480" y="4983480"/>
            <a:ext cx="5486400" cy="502920"/>
          </a:xfrm>
          <a:prstGeom prst="roundRect">
            <a:avLst>
              <a:gd name="adj" fmla="val 14545"/>
            </a:avLst>
          </a:prstGeom>
          <a:solidFill>
            <a:srgbClr val="0A0C10"/>
          </a:solidFill>
          <a:ln/>
        </p:spPr>
      </p:sp>
      <p:sp>
        <p:nvSpPr>
          <p:cNvPr id="44" name="Text 41"/>
          <p:cNvSpPr txBox="1"/>
          <p:nvPr/>
        </p:nvSpPr>
        <p:spPr>
          <a:xfrm>
            <a:off x="6355080" y="4983480"/>
            <a:ext cx="5120640" cy="502920"/>
          </a:xfrm>
          <a:prstGeom prst="rect">
            <a:avLst/>
          </a:prstGeom>
          <a:noFill/>
          <a:ln/>
        </p:spPr>
        <p:txBody>
          <a:bodyPr wrap="square" lIns="0" tIns="0" rIns="0" bIns="0" rtlCol="0" anchor="ctr"/>
          <a:lstStyle/>
          <a:p>
            <a:pPr marL="0" indent="0">
              <a:buNone/>
            </a:pPr>
            <a:r>
              <a:rPr lang="en-US" sz="1200" b="1" dirty="0">
                <a:solidFill>
                  <a:srgbClr val="7FA6E3"/>
                </a:solidFill>
              </a:rPr>
              <a:t>Compile   </a:t>
            </a:r>
            <a:r>
              <a:rPr lang="en-US" sz="1300" dirty="0">
                <a:solidFill>
                  <a:srgbClr val="FFFFFF"/>
                </a:solidFill>
                <a:latin typeface="Courier New" pitchFamily="34" charset="0"/>
                <a:ea typeface="Courier New" pitchFamily="34" charset="-122"/>
                <a:cs typeface="Courier New" pitchFamily="34" charset="-120"/>
              </a:rPr>
              <a:t>gcc -Wall -Wextra profiler.c -o profiler</a:t>
            </a:r>
            <a:endParaRPr lang="en-US" sz="1200" dirty="0"/>
          </a:p>
        </p:txBody>
      </p:sp>
      <p:sp>
        <p:nvSpPr>
          <p:cNvPr id="45" name="Run command"/>
          <p:cNvSpPr/>
          <p:nvPr/>
        </p:nvSpPr>
        <p:spPr>
          <a:xfrm>
            <a:off x="6126480" y="5577840"/>
            <a:ext cx="5486400" cy="502920"/>
          </a:xfrm>
          <a:prstGeom prst="roundRect">
            <a:avLst>
              <a:gd name="adj" fmla="val 14545"/>
            </a:avLst>
          </a:prstGeom>
          <a:solidFill>
            <a:srgbClr val="0A0C10"/>
          </a:solidFill>
          <a:ln/>
        </p:spPr>
      </p:sp>
      <p:sp>
        <p:nvSpPr>
          <p:cNvPr id="46" name="Text 43"/>
          <p:cNvSpPr txBox="1"/>
          <p:nvPr/>
        </p:nvSpPr>
        <p:spPr>
          <a:xfrm>
            <a:off x="6355080" y="5577840"/>
            <a:ext cx="5120640" cy="502920"/>
          </a:xfrm>
          <a:prstGeom prst="rect">
            <a:avLst/>
          </a:prstGeom>
          <a:noFill/>
          <a:ln/>
        </p:spPr>
        <p:txBody>
          <a:bodyPr wrap="square" lIns="0" tIns="0" rIns="0" bIns="0" rtlCol="0" anchor="ctr"/>
          <a:lstStyle/>
          <a:p>
            <a:pPr marL="0" indent="0">
              <a:buNone/>
            </a:pPr>
            <a:r>
              <a:rPr lang="en-US" sz="1200" b="1" dirty="0">
                <a:solidFill>
                  <a:srgbClr val="7FA6E3"/>
                </a:solidFill>
              </a:rPr>
              <a:t>Run   </a:t>
            </a:r>
            <a:r>
              <a:rPr lang="en-US" sz="1300" dirty="0">
                <a:solidFill>
                  <a:srgbClr val="FFFFFF"/>
                </a:solidFill>
                <a:latin typeface="Courier New" pitchFamily="34" charset="0"/>
                <a:ea typeface="Courier New" pitchFamily="34" charset="-122"/>
                <a:cs typeface="Courier New" pitchFamily="34" charset="-120"/>
              </a:rPr>
              <a:t>./profiler</a:t>
            </a:r>
            <a:endParaRPr lang="en-US" sz="1200" dirty="0"/>
          </a:p>
        </p:txBody>
      </p:sp>
      <p:sp>
        <p:nvSpPr>
          <p:cNvPr id="47"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68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400" b="1" dirty="0">
                <a:solidFill>
                  <a:schemeClr val="tx2"/>
                </a:solidFill>
              </a:rPr>
              <a:t>Testing the Profiler</a:t>
            </a:r>
            <a:endParaRPr lang="en-US" sz="3400" dirty="0"/>
          </a:p>
        </p:txBody>
      </p:sp>
      <p:graphicFrame>
        <p:nvGraphicFramePr>
          <p:cNvPr id="8" name="Test case table"/>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4206240"/>
        </p:xfrm>
        <a:graphic>
          <a:graphicData uri="http://schemas.openxmlformats.org/drawingml/2006/table">
            <a:tbl>
              <a:tblPr/>
              <a:tblGrid>
                <a:gridCol w="54864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gridCol w="4023360">
                  <a:extLst>
                    <a:ext uri="{9D8B030D-6E8A-4147-A177-3AD203B41FA5}">
                      <a16:colId xmlns:a16="http://schemas.microsoft.com/office/drawing/2014/main" val="20003"/>
                    </a:ext>
                  </a:extLst>
                </a:gridCol>
                <a:gridCol w="1920240">
                  <a:extLst>
                    <a:ext uri="{9D8B030D-6E8A-4147-A177-3AD203B41FA5}">
                      <a16:colId xmlns:a16="http://schemas.microsoft.com/office/drawing/2014/main" val="20004"/>
                    </a:ext>
                  </a:extLst>
                </a:gridCol>
              </a:tblGrid>
              <a:tr h="411480">
                <a:tc>
                  <a:txBody>
                    <a:bodyPr/>
                    <a:lstStyle/>
                    <a:p>
                      <a:pPr marL="0" indent="0">
                        <a:buNone/>
                      </a:pPr>
                      <a:r>
                        <a:rPr lang="en-US" sz="1400" b="1" dirty="0">
                          <a:solidFill>
                            <a:srgbClr val="FFFFFF"/>
                          </a:solidFill>
                        </a:rPr>
                        <a:t>#</a:t>
                      </a:r>
                      <a:endParaRPr lang="en-US" sz="1400" dirty="0"/>
                    </a:p>
                  </a:txBody>
                  <a:tcPr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0B2A5B"/>
                    </a:solidFill>
                  </a:tcPr>
                </a:tc>
                <a:tc>
                  <a:txBody>
                    <a:bodyPr/>
                    <a:lstStyle/>
                    <a:p>
                      <a:pPr marL="0" indent="0">
                        <a:buNone/>
                      </a:pPr>
                      <a:r>
                        <a:rPr lang="en-US" sz="1400" b="1" dirty="0">
                          <a:solidFill>
                            <a:srgbClr val="FFFFFF"/>
                          </a:solidFill>
                        </a:rPr>
                        <a:t>Input</a:t>
                      </a:r>
                      <a:endParaRPr lang="en-US" sz="1400" dirty="0"/>
                    </a:p>
                  </a:txBody>
                  <a:tcPr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0B2A5B"/>
                    </a:solidFill>
                  </a:tcPr>
                </a:tc>
                <a:tc>
                  <a:txBody>
                    <a:bodyPr/>
                    <a:lstStyle/>
                    <a:p>
                      <a:pPr marL="0" indent="0">
                        <a:buNone/>
                      </a:pPr>
                      <a:r>
                        <a:rPr lang="en-US" sz="1400" b="1" dirty="0">
                          <a:solidFill>
                            <a:srgbClr val="FFFFFF"/>
                          </a:solidFill>
                        </a:rPr>
                        <a:t>Purpose</a:t>
                      </a:r>
                      <a:endParaRPr lang="en-US" sz="1400" dirty="0"/>
                    </a:p>
                  </a:txBody>
                  <a:tcPr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0B2A5B"/>
                    </a:solidFill>
                  </a:tcPr>
                </a:tc>
                <a:tc>
                  <a:txBody>
                    <a:bodyPr/>
                    <a:lstStyle/>
                    <a:p>
                      <a:pPr marL="0" indent="0">
                        <a:buNone/>
                      </a:pPr>
                      <a:r>
                        <a:rPr lang="en-US" sz="1400" b="1" dirty="0">
                          <a:solidFill>
                            <a:srgbClr val="FFFFFF"/>
                          </a:solidFill>
                        </a:rPr>
                        <a:t>Result</a:t>
                      </a:r>
                      <a:endParaRPr lang="en-US" sz="1400" dirty="0"/>
                    </a:p>
                  </a:txBody>
                  <a:tcPr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0B2A5B"/>
                    </a:solidFill>
                  </a:tcPr>
                </a:tc>
                <a:tc>
                  <a:txBody>
                    <a:bodyPr/>
                    <a:lstStyle/>
                    <a:p>
                      <a:pPr marL="0" indent="0">
                        <a:buNone/>
                      </a:pPr>
                      <a:r>
                        <a:rPr lang="en-US" sz="1400" b="1" dirty="0">
                          <a:solidFill>
                            <a:srgbClr val="FFFFFF"/>
                          </a:solidFill>
                        </a:rPr>
                        <a:t>Basis</a:t>
                      </a:r>
                      <a:endParaRPr lang="en-US" sz="1400" dirty="0"/>
                    </a:p>
                  </a:txBody>
                  <a:tcPr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0B2A5B"/>
                    </a:solidFill>
                  </a:tcPr>
                </a:tc>
                <a:extLst>
                  <a:ext uri="{0D108BD9-81ED-4DB2-BD59-A6C34878D82A}">
                    <a16:rowId xmlns:a16="http://schemas.microsoft.com/office/drawing/2014/main" val="10000"/>
                  </a:ext>
                </a:extLst>
              </a:tr>
              <a:tr h="731520">
                <a:tc>
                  <a:txBody>
                    <a:bodyPr/>
                    <a:lstStyle/>
                    <a:p>
                      <a:pPr marL="0" indent="0">
                        <a:buNone/>
                      </a:pPr>
                      <a:r>
                        <a:rPr lang="en-US" sz="1400" b="1" dirty="0">
                          <a:solidFill>
                            <a:srgbClr val="0A0C10"/>
                          </a:solidFill>
                        </a:rPr>
                        <a:t>1</a:t>
                      </a:r>
                      <a:endParaRPr lang="en-US" sz="1400" dirty="0"/>
                    </a:p>
                  </a:txBody>
                  <a:tcPr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tcPr>
                </a:tc>
                <a:tc>
                  <a:txBody>
                    <a:bodyPr/>
                    <a:lstStyle/>
                    <a:p>
                      <a:pPr marL="0" indent="0">
                        <a:buNone/>
                      </a:pPr>
                      <a:r>
                        <a:rPr lang="en-US" sz="1400" b="1" dirty="0">
                          <a:solidFill>
                            <a:srgbClr val="0B2A5B"/>
                          </a:solidFill>
                          <a:latin typeface="Courier New" pitchFamily="34" charset="0"/>
                          <a:ea typeface="Courier New" pitchFamily="34" charset="-122"/>
                          <a:cs typeface="Courier New" pitchFamily="34" charset="-120"/>
                        </a:rPr>
                        <a:t>ls -l</a:t>
                      </a:r>
                      <a:endParaRPr lang="en-US" sz="1400" dirty="0">
                        <a:latin typeface="Courier New" charset="0"/>
                        <a:ea typeface="Courier New" charset="0"/>
                        <a:cs typeface="Courier New" charset="0"/>
                      </a:endParaRPr>
                    </a:p>
                  </a:txBody>
                  <a:tcPr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tcPr>
                </a:tc>
                <a:tc>
                  <a:txBody>
                    <a:bodyPr/>
                    <a:lstStyle/>
                    <a:p>
                      <a:pPr marL="0" indent="0">
                        <a:buNone/>
                      </a:pPr>
                      <a:r>
                        <a:rPr lang="en-US" sz="1400" dirty="0">
                          <a:solidFill>
                            <a:srgbClr val="0A0C10"/>
                          </a:solidFill>
                        </a:rPr>
                        <a:t>Verify successful command execution</a:t>
                      </a:r>
                      <a:endParaRPr lang="en-US" sz="1400" dirty="0"/>
                    </a:p>
                  </a:txBody>
                  <a:tcPr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tcPr>
                </a:tc>
                <a:tc>
                  <a:txBody>
                    <a:bodyPr/>
                    <a:lstStyle/>
                    <a:p>
                      <a:pPr marL="0" indent="0">
                        <a:buNone/>
                      </a:pPr>
                      <a:r>
                        <a:rPr lang="en-US" sz="1400" dirty="0">
                          <a:solidFill>
                            <a:srgbClr val="0A0C10"/>
                          </a:solidFill>
                        </a:rPr>
                        <a:t>Observed exit status: 0</a:t>
                      </a:r>
                      <a:endParaRPr lang="en-US" sz="1400" dirty="0"/>
                    </a:p>
                  </a:txBody>
                  <a:tcPr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tcPr>
                </a:tc>
                <a:tc>
                  <a:txBody>
                    <a:bodyPr/>
                    <a:lstStyle/>
                    <a:p>
                      <a:pPr marL="0" indent="0" algn="ctr">
                        <a:buNone/>
                      </a:pPr>
                      <a:r>
                        <a:rPr lang="en-US" sz="1300" b="1" dirty="0">
                          <a:solidFill>
                            <a:srgbClr val="FFFFFF"/>
                          </a:solidFill>
                        </a:rPr>
                        <a:t>Observed (screenshot)</a:t>
                      </a:r>
                      <a:endParaRPr lang="en-US" sz="1300" dirty="0"/>
                    </a:p>
                  </a:txBody>
                  <a:tcPr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E"/>
                    </a:solidFill>
                  </a:tcPr>
                </a:tc>
                <a:extLst>
                  <a:ext uri="{0D108BD9-81ED-4DB2-BD59-A6C34878D82A}">
                    <a16:rowId xmlns:a16="http://schemas.microsoft.com/office/drawing/2014/main" val="10001"/>
                  </a:ext>
                </a:extLst>
              </a:tr>
              <a:tr h="731520">
                <a:tc>
                  <a:txBody>
                    <a:bodyPr/>
                    <a:lstStyle/>
                    <a:p>
                      <a:pPr marL="0" indent="0">
                        <a:buNone/>
                      </a:pPr>
                      <a:r>
                        <a:rPr lang="en-US" sz="1400" b="1" dirty="0">
                          <a:solidFill>
                            <a:srgbClr val="0A0C10"/>
                          </a:solidFill>
                        </a:rPr>
                        <a:t>2</a:t>
                      </a:r>
                      <a:endParaRPr lang="en-US" sz="1400" dirty="0"/>
                    </a:p>
                  </a:txBody>
                  <a:tcPr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tcPr>
                </a:tc>
                <a:tc>
                  <a:txBody>
                    <a:bodyPr/>
                    <a:lstStyle/>
                    <a:p>
                      <a:pPr marL="0" indent="0">
                        <a:buNone/>
                      </a:pPr>
                      <a:r>
                        <a:rPr lang="en-US" sz="1400" b="1" dirty="0">
                          <a:solidFill>
                            <a:srgbClr val="0B2A5B"/>
                          </a:solidFill>
                          <a:latin typeface="Courier New" pitchFamily="34" charset="0"/>
                          <a:ea typeface="Courier New" pitchFamily="34" charset="-122"/>
                          <a:cs typeface="Courier New" pitchFamily="34" charset="-120"/>
                        </a:rPr>
                        <a:t>sleep 2</a:t>
                      </a:r>
                      <a:endParaRPr lang="en-US" sz="1400" dirty="0">
                        <a:latin typeface="Courier New" charset="0"/>
                        <a:ea typeface="Courier New" charset="0"/>
                        <a:cs typeface="Courier New" charset="0"/>
                      </a:endParaRPr>
                    </a:p>
                  </a:txBody>
                  <a:tcPr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tcPr>
                </a:tc>
                <a:tc>
                  <a:txBody>
                    <a:bodyPr/>
                    <a:lstStyle/>
                    <a:p>
                      <a:pPr marL="0" indent="0">
                        <a:buNone/>
                      </a:pPr>
                      <a:r>
                        <a:rPr lang="en-US" sz="1400" dirty="0">
                          <a:solidFill>
                            <a:srgbClr val="0A0C10"/>
                          </a:solidFill>
                        </a:rPr>
                        <a:t>Validate elapsed-time measurement</a:t>
                      </a:r>
                      <a:endParaRPr lang="en-US" sz="1400" dirty="0"/>
                    </a:p>
                  </a:txBody>
                  <a:tcPr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tcPr>
                </a:tc>
                <a:tc>
                  <a:txBody>
                    <a:bodyPr/>
                    <a:lstStyle/>
                    <a:p>
                      <a:pPr marL="0" indent="0">
                        <a:buNone/>
                      </a:pPr>
                      <a:r>
                        <a:rPr lang="en-US" sz="1400" dirty="0">
                          <a:solidFill>
                            <a:srgbClr val="0A0C10"/>
                          </a:solidFill>
                        </a:rPr>
                        <a:t>Elapsed time: 2.003424 s; exit status: 0</a:t>
                      </a:r>
                      <a:endParaRPr lang="en-US" sz="1400" dirty="0"/>
                    </a:p>
                  </a:txBody>
                  <a:tcPr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tcPr>
                </a:tc>
                <a:tc>
                  <a:txBody>
                    <a:bodyPr/>
                    <a:lstStyle/>
                    <a:p>
                      <a:pPr marL="0" indent="0" algn="ctr">
                        <a:buNone/>
                      </a:pPr>
                      <a:r>
                        <a:rPr lang="en-US" sz="1300" b="1" dirty="0">
                          <a:solidFill>
                            <a:srgbClr val="FFFFFF"/>
                          </a:solidFill>
                        </a:rPr>
                        <a:t>Observed (screenshot)</a:t>
                      </a:r>
                      <a:endParaRPr lang="en-US" sz="1300" dirty="0"/>
                    </a:p>
                  </a:txBody>
                  <a:tcPr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E"/>
                    </a:solidFill>
                  </a:tcPr>
                </a:tc>
                <a:extLst>
                  <a:ext uri="{0D108BD9-81ED-4DB2-BD59-A6C34878D82A}">
                    <a16:rowId xmlns:a16="http://schemas.microsoft.com/office/drawing/2014/main" val="10002"/>
                  </a:ext>
                </a:extLst>
              </a:tr>
              <a:tr h="868680">
                <a:tc>
                  <a:txBody>
                    <a:bodyPr/>
                    <a:lstStyle/>
                    <a:p>
                      <a:pPr marL="0" indent="0">
                        <a:buNone/>
                      </a:pPr>
                      <a:r>
                        <a:rPr lang="en-US" sz="1400" b="1" dirty="0">
                          <a:solidFill>
                            <a:srgbClr val="0A0C10"/>
                          </a:solidFill>
                        </a:rPr>
                        <a:t>3</a:t>
                      </a:r>
                      <a:endParaRPr lang="en-US" sz="1400" dirty="0"/>
                    </a:p>
                  </a:txBody>
                  <a:tcPr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tcPr>
                </a:tc>
                <a:tc>
                  <a:txBody>
                    <a:bodyPr/>
                    <a:lstStyle/>
                    <a:p>
                      <a:pPr marL="0" indent="0">
                        <a:buNone/>
                      </a:pPr>
                      <a:r>
                        <a:rPr lang="en-US" sz="1400" b="1" dirty="0">
                          <a:solidFill>
                            <a:srgbClr val="0B2A5B"/>
                          </a:solidFill>
                          <a:latin typeface="Courier New" pitchFamily="34" charset="0"/>
                          <a:ea typeface="Courier New" pitchFamily="34" charset="-122"/>
                          <a:cs typeface="Courier New" pitchFamily="34" charset="-120"/>
                        </a:rPr>
                        <a:t>abcxyz</a:t>
                      </a:r>
                      <a:endParaRPr lang="en-US" sz="1400" dirty="0">
                        <a:latin typeface="Courier New" charset="0"/>
                        <a:ea typeface="Courier New" charset="0"/>
                        <a:cs typeface="Courier New" charset="0"/>
                      </a:endParaRPr>
                    </a:p>
                  </a:txBody>
                  <a:tcPr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tcPr>
                </a:tc>
                <a:tc>
                  <a:txBody>
                    <a:bodyPr/>
                    <a:lstStyle/>
                    <a:p>
                      <a:pPr marL="0" indent="0">
                        <a:buNone/>
                      </a:pPr>
                      <a:r>
                        <a:rPr lang="en-US" sz="1400" dirty="0">
                          <a:solidFill>
                            <a:srgbClr val="0A0C10"/>
                          </a:solidFill>
                        </a:rPr>
                        <a:t>Test invalid-command handling</a:t>
                      </a:r>
                      <a:endParaRPr lang="en-US" sz="1400" dirty="0"/>
                    </a:p>
                  </a:txBody>
                  <a:tcPr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tcPr>
                </a:tc>
                <a:tc>
                  <a:txBody>
                    <a:bodyPr/>
                    <a:lstStyle/>
                    <a:p>
                      <a:pPr marL="0" indent="0">
                        <a:buNone/>
                      </a:pPr>
                      <a:r>
                        <a:rPr lang="en-US" sz="1400" dirty="0">
                          <a:solidFill>
                            <a:srgbClr val="0A0C10"/>
                          </a:solidFill>
                        </a:rPr>
                        <a:t>Error: “Command execution failed: No such file or directory”; exit status: 127</a:t>
                      </a:r>
                      <a:endParaRPr lang="en-US" sz="1400" dirty="0"/>
                    </a:p>
                  </a:txBody>
                  <a:tcPr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tcPr>
                </a:tc>
                <a:tc>
                  <a:txBody>
                    <a:bodyPr/>
                    <a:lstStyle/>
                    <a:p>
                      <a:pPr marL="0" indent="0" algn="ctr">
                        <a:buNone/>
                      </a:pPr>
                      <a:r>
                        <a:rPr lang="en-US" sz="1300" b="1" dirty="0">
                          <a:solidFill>
                            <a:srgbClr val="FFFFFF"/>
                          </a:solidFill>
                        </a:rPr>
                        <a:t>Observed (screenshot)</a:t>
                      </a:r>
                      <a:endParaRPr lang="en-US" sz="1300" dirty="0"/>
                    </a:p>
                  </a:txBody>
                  <a:tcPr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E"/>
                    </a:solidFill>
                  </a:tcPr>
                </a:tc>
                <a:extLst>
                  <a:ext uri="{0D108BD9-81ED-4DB2-BD59-A6C34878D82A}">
                    <a16:rowId xmlns:a16="http://schemas.microsoft.com/office/drawing/2014/main" val="10003"/>
                  </a:ext>
                </a:extLst>
              </a:tr>
              <a:tr h="731520">
                <a:tc>
                  <a:txBody>
                    <a:bodyPr/>
                    <a:lstStyle/>
                    <a:p>
                      <a:pPr marL="0" indent="0">
                        <a:buNone/>
                      </a:pPr>
                      <a:r>
                        <a:rPr lang="en-US" sz="1400" b="1" dirty="0">
                          <a:solidFill>
                            <a:srgbClr val="0A0C10"/>
                          </a:solidFill>
                        </a:rPr>
                        <a:t>4</a:t>
                      </a:r>
                      <a:endParaRPr lang="en-US" sz="1400" dirty="0"/>
                    </a:p>
                  </a:txBody>
                  <a:tcPr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tcPr>
                </a:tc>
                <a:tc>
                  <a:txBody>
                    <a:bodyPr/>
                    <a:lstStyle/>
                    <a:p>
                      <a:pPr marL="0" indent="0">
                        <a:buNone/>
                      </a:pPr>
                      <a:r>
                        <a:rPr lang="en-US" sz="1400" b="1" dirty="0">
                          <a:solidFill>
                            <a:srgbClr val="0B2A5B"/>
                          </a:solidFill>
                          <a:latin typeface="Courier New" pitchFamily="34" charset="0"/>
                          <a:ea typeface="Courier New" pitchFamily="34" charset="-122"/>
                          <a:cs typeface="Courier New" pitchFamily="34" charset="-120"/>
                        </a:rPr>
                        <a:t>(empty input)</a:t>
                      </a:r>
                      <a:endParaRPr lang="en-US" sz="1400" dirty="0">
                        <a:latin typeface="Courier New" charset="0"/>
                        <a:ea typeface="Courier New" charset="0"/>
                        <a:cs typeface="Courier New" charset="0"/>
                      </a:endParaRPr>
                    </a:p>
                  </a:txBody>
                  <a:tcPr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tcPr>
                </a:tc>
                <a:tc>
                  <a:txBody>
                    <a:bodyPr/>
                    <a:lstStyle/>
                    <a:p>
                      <a:pPr marL="0" indent="0">
                        <a:buNone/>
                      </a:pPr>
                      <a:r>
                        <a:rPr lang="en-US" sz="1400" dirty="0">
                          <a:solidFill>
                            <a:srgbClr val="0A0C10"/>
                          </a:solidFill>
                        </a:rPr>
                        <a:t>Verify input validation</a:t>
                      </a:r>
                      <a:endParaRPr lang="en-US" sz="1400" dirty="0"/>
                    </a:p>
                  </a:txBody>
                  <a:tcPr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tcPr>
                </a:tc>
                <a:tc>
                  <a:txBody>
                    <a:bodyPr/>
                    <a:lstStyle/>
                    <a:p>
                      <a:pPr marL="0" indent="0">
                        <a:buNone/>
                      </a:pPr>
                      <a:r>
                        <a:rPr lang="en-US" sz="1400" dirty="0">
                          <a:solidFill>
                            <a:srgbClr val="0A0C10"/>
                          </a:solidFill>
                        </a:rPr>
                        <a:t>Expected: “Error: Empty command.” and the prompt returns</a:t>
                      </a:r>
                      <a:endParaRPr lang="en-US" sz="1400" dirty="0"/>
                    </a:p>
                  </a:txBody>
                  <a:tcPr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tcPr>
                </a:tc>
                <a:tc>
                  <a:txBody>
                    <a:bodyPr/>
                    <a:lstStyle/>
                    <a:p>
                      <a:pPr marL="0" indent="0" algn="ctr">
                        <a:buNone/>
                      </a:pPr>
                      <a:r>
                        <a:rPr lang="en-US" sz="1300" b="1" dirty="0">
                          <a:solidFill>
                            <a:srgbClr val="0B2A5B"/>
                          </a:solidFill>
                        </a:rPr>
                        <a:t>Expected (README / source)</a:t>
                      </a:r>
                      <a:endParaRPr lang="en-US" sz="1300" dirty="0"/>
                    </a:p>
                  </a:txBody>
                  <a:tcPr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AF0F8"/>
                    </a:solidFill>
                  </a:tcPr>
                </a:tc>
                <a:extLst>
                  <a:ext uri="{0D108BD9-81ED-4DB2-BD59-A6C34878D82A}">
                    <a16:rowId xmlns:a16="http://schemas.microsoft.com/office/drawing/2014/main" val="10004"/>
                  </a:ext>
                </a:extLst>
              </a:tr>
              <a:tr h="731520">
                <a:tc>
                  <a:txBody>
                    <a:bodyPr/>
                    <a:lstStyle/>
                    <a:p>
                      <a:pPr marL="0" indent="0">
                        <a:buNone/>
                      </a:pPr>
                      <a:r>
                        <a:rPr lang="en-US" sz="1400" b="1" dirty="0">
                          <a:solidFill>
                            <a:srgbClr val="0A0C10"/>
                          </a:solidFill>
                        </a:rPr>
                        <a:t>5</a:t>
                      </a:r>
                      <a:endParaRPr lang="en-US" sz="1400" dirty="0"/>
                    </a:p>
                  </a:txBody>
                  <a:tcPr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tcPr>
                </a:tc>
                <a:tc>
                  <a:txBody>
                    <a:bodyPr/>
                    <a:lstStyle/>
                    <a:p>
                      <a:pPr marL="0" indent="0">
                        <a:buNone/>
                      </a:pPr>
                      <a:r>
                        <a:rPr lang="en-US" sz="1400" b="1" dirty="0">
                          <a:solidFill>
                            <a:srgbClr val="0B2A5B"/>
                          </a:solidFill>
                          <a:latin typeface="Courier New" pitchFamily="34" charset="0"/>
                          <a:ea typeface="Courier New" pitchFamily="34" charset="-122"/>
                          <a:cs typeface="Courier New" pitchFamily="34" charset="-120"/>
                        </a:rPr>
                        <a:t>exit</a:t>
                      </a:r>
                      <a:endParaRPr lang="en-US" sz="1400" dirty="0">
                        <a:latin typeface="Courier New" charset="0"/>
                        <a:ea typeface="Courier New" charset="0"/>
                        <a:cs typeface="Courier New" charset="0"/>
                      </a:endParaRPr>
                    </a:p>
                  </a:txBody>
                  <a:tcPr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tcPr>
                </a:tc>
                <a:tc>
                  <a:txBody>
                    <a:bodyPr/>
                    <a:lstStyle/>
                    <a:p>
                      <a:pPr marL="0" indent="0">
                        <a:buNone/>
                      </a:pPr>
                      <a:r>
                        <a:rPr lang="en-US" sz="1400" dirty="0">
                          <a:solidFill>
                            <a:srgbClr val="0A0C10"/>
                          </a:solidFill>
                        </a:rPr>
                        <a:t>Verify program termination</a:t>
                      </a:r>
                      <a:endParaRPr lang="en-US" sz="1400" dirty="0"/>
                    </a:p>
                  </a:txBody>
                  <a:tcPr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tcPr>
                </a:tc>
                <a:tc>
                  <a:txBody>
                    <a:bodyPr/>
                    <a:lstStyle/>
                    <a:p>
                      <a:pPr marL="0" indent="0">
                        <a:buNone/>
                      </a:pPr>
                      <a:r>
                        <a:rPr lang="en-US" sz="1400" dirty="0">
                          <a:solidFill>
                            <a:srgbClr val="0A0C10"/>
                          </a:solidFill>
                        </a:rPr>
                        <a:t>Expected: “Exiting profiler. Goodbye!” and the program ends</a:t>
                      </a:r>
                      <a:endParaRPr lang="en-US" sz="1400" dirty="0"/>
                    </a:p>
                  </a:txBody>
                  <a:tcPr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tcPr>
                </a:tc>
                <a:tc>
                  <a:txBody>
                    <a:bodyPr/>
                    <a:lstStyle/>
                    <a:p>
                      <a:pPr marL="0" indent="0" algn="ctr">
                        <a:buNone/>
                      </a:pPr>
                      <a:r>
                        <a:rPr lang="en-US" sz="1300" b="1" dirty="0">
                          <a:solidFill>
                            <a:srgbClr val="0B2A5B"/>
                          </a:solidFill>
                        </a:rPr>
                        <a:t>Expected (README / source)</a:t>
                      </a:r>
                      <a:endParaRPr lang="en-US" sz="1300" dirty="0"/>
                    </a:p>
                  </a:txBody>
                  <a:tcPr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AF0F8"/>
                    </a:solidFill>
                  </a:tcPr>
                </a:tc>
                <a:extLst>
                  <a:ext uri="{0D108BD9-81ED-4DB2-BD59-A6C34878D82A}">
                    <a16:rowId xmlns:a16="http://schemas.microsoft.com/office/drawing/2014/main" val="10005"/>
                  </a:ext>
                </a:extLst>
              </a:tr>
            </a:tbl>
          </a:graphicData>
        </a:graphic>
      </p:graphicFrame>
      <p:sp>
        <p:nvSpPr>
          <p:cNvPr id="4" name="Shape 1"/>
          <p:cNvSpPr/>
          <p:nvPr/>
        </p:nvSpPr>
        <p:spPr>
          <a:xfrm>
            <a:off x="548640" y="5943600"/>
            <a:ext cx="274320" cy="201168"/>
          </a:xfrm>
          <a:prstGeom prst="roundRect">
            <a:avLst>
              <a:gd name="adj" fmla="val 18182"/>
            </a:avLst>
          </a:prstGeom>
          <a:solidFill>
            <a:srgbClr val="1F4E9E"/>
          </a:solidFill>
          <a:ln/>
        </p:spPr>
      </p:sp>
      <p:sp>
        <p:nvSpPr>
          <p:cNvPr id="5" name="Text 2"/>
          <p:cNvSpPr txBox="1"/>
          <p:nvPr/>
        </p:nvSpPr>
        <p:spPr>
          <a:xfrm>
            <a:off x="914400" y="5907024"/>
            <a:ext cx="4937760" cy="274320"/>
          </a:xfrm>
          <a:prstGeom prst="rect">
            <a:avLst/>
          </a:prstGeom>
          <a:noFill/>
          <a:ln/>
        </p:spPr>
        <p:txBody>
          <a:bodyPr wrap="square" lIns="0" tIns="0" rIns="0" bIns="0" rtlCol="0" anchor="ctr"/>
          <a:lstStyle/>
          <a:p>
            <a:pPr marL="0" indent="0">
              <a:buNone/>
            </a:pPr>
            <a:r>
              <a:rPr lang="en-US" sz="1200" dirty="0">
                <a:solidFill>
                  <a:schemeClr val="tx1"/>
                </a:solidFill>
              </a:rPr>
              <a:t>Observed: value or message visible in the terminal screenshots</a:t>
            </a:r>
            <a:endParaRPr lang="en-US" sz="1200" dirty="0"/>
          </a:p>
        </p:txBody>
      </p:sp>
      <p:sp>
        <p:nvSpPr>
          <p:cNvPr id="6" name="Shape 3"/>
          <p:cNvSpPr/>
          <p:nvPr/>
        </p:nvSpPr>
        <p:spPr>
          <a:xfrm>
            <a:off x="6172200" y="5943600"/>
            <a:ext cx="274320" cy="201168"/>
          </a:xfrm>
          <a:prstGeom prst="roundRect">
            <a:avLst>
              <a:gd name="adj" fmla="val 18182"/>
            </a:avLst>
          </a:prstGeom>
          <a:solidFill>
            <a:srgbClr val="EAF0F8"/>
          </a:solidFill>
          <a:ln w="12700">
            <a:solidFill>
              <a:srgbClr val="1F4E9E"/>
            </a:solidFill>
            <a:prstDash val="solid"/>
          </a:ln>
        </p:spPr>
      </p:sp>
      <p:sp>
        <p:nvSpPr>
          <p:cNvPr id="7" name="Text 4"/>
          <p:cNvSpPr txBox="1"/>
          <p:nvPr/>
        </p:nvSpPr>
        <p:spPr>
          <a:xfrm>
            <a:off x="6537960" y="5907024"/>
            <a:ext cx="5074920" cy="274320"/>
          </a:xfrm>
          <a:prstGeom prst="rect">
            <a:avLst/>
          </a:prstGeom>
          <a:noFill/>
          <a:ln/>
        </p:spPr>
        <p:txBody>
          <a:bodyPr wrap="square" lIns="0" tIns="0" rIns="0" bIns="0" rtlCol="0" anchor="ctr"/>
          <a:lstStyle/>
          <a:p>
            <a:pPr marL="0" indent="0">
              <a:buNone/>
            </a:pPr>
            <a:r>
              <a:rPr lang="en-US" sz="1200" dirty="0">
                <a:solidFill>
                  <a:schemeClr val="tx1"/>
                </a:solidFill>
              </a:rPr>
              <a:t>Expected: behaviour from the source code; recorded as passed in the README, no screenshot</a:t>
            </a:r>
            <a:endParaRPr lang="en-US" sz="12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685"/>
                </a:solidFill>
              </a:defRPr>
            </a:lvl1pPr>
          </a:lstStyle>
          <a:p>
            <a:pPr algn="r"/>
            <a:fld id="{F7021451-1387-4CA6-816F-3879F97B5CBC}" type="slidenum">
              <a:rPr lang="en-US" b="0"/>
              <a:t>7</a:t>
            </a:fld>
            <a:endParaRPr lang="en-US"/>
          </a:p>
        </p:txBody>
      </p:sp>
      <p:pic>
        <p:nvPicPr>
          <p:cNvPr id="3" name="Picture 2">
            <a:extLst>
              <a:ext uri="{FF2B5EF4-FFF2-40B4-BE49-F238E27FC236}">
                <a16:creationId xmlns:a16="http://schemas.microsoft.com/office/drawing/2014/main" id="{CC6BE615-00F7-4A80-603F-54F52CF5A815}"/>
              </a:ext>
            </a:extLst>
          </p:cNvPr>
          <p:cNvPicPr>
            <a:picLocks noChangeAspect="1"/>
          </p:cNvPicPr>
          <p:nvPr/>
        </p:nvPicPr>
        <p:blipFill>
          <a:blip r:embed="rId3"/>
          <a:stretch>
            <a:fillRect/>
          </a:stretch>
        </p:blipFill>
        <p:spPr>
          <a:xfrm>
            <a:off x="9694506" y="1770950"/>
            <a:ext cx="1918374" cy="748315"/>
          </a:xfrm>
          <a:prstGeom prst="rect">
            <a:avLst/>
          </a:prstGeom>
        </p:spPr>
      </p:pic>
      <p:pic>
        <p:nvPicPr>
          <p:cNvPr id="9" name="Picture 8">
            <a:extLst>
              <a:ext uri="{FF2B5EF4-FFF2-40B4-BE49-F238E27FC236}">
                <a16:creationId xmlns:a16="http://schemas.microsoft.com/office/drawing/2014/main" id="{6652BFF9-AE41-06A7-C9A1-ADBD397A9CF6}"/>
              </a:ext>
            </a:extLst>
          </p:cNvPr>
          <p:cNvPicPr>
            <a:picLocks noChangeAspect="1"/>
          </p:cNvPicPr>
          <p:nvPr/>
        </p:nvPicPr>
        <p:blipFill>
          <a:blip r:embed="rId4"/>
          <a:stretch>
            <a:fillRect/>
          </a:stretch>
        </p:blipFill>
        <p:spPr>
          <a:xfrm>
            <a:off x="9694506" y="2519265"/>
            <a:ext cx="1918374" cy="777241"/>
          </a:xfrm>
          <a:prstGeom prst="rect">
            <a:avLst/>
          </a:prstGeom>
        </p:spPr>
      </p:pic>
      <p:pic>
        <p:nvPicPr>
          <p:cNvPr id="10" name="Picture 9">
            <a:extLst>
              <a:ext uri="{FF2B5EF4-FFF2-40B4-BE49-F238E27FC236}">
                <a16:creationId xmlns:a16="http://schemas.microsoft.com/office/drawing/2014/main" id="{457EBDDB-E16D-5B7F-8F50-3B1503310613}"/>
              </a:ext>
            </a:extLst>
          </p:cNvPr>
          <p:cNvPicPr>
            <a:picLocks noChangeAspect="1"/>
          </p:cNvPicPr>
          <p:nvPr/>
        </p:nvPicPr>
        <p:blipFill>
          <a:blip r:embed="rId5"/>
          <a:stretch>
            <a:fillRect/>
          </a:stretch>
        </p:blipFill>
        <p:spPr>
          <a:xfrm>
            <a:off x="9694506" y="3267581"/>
            <a:ext cx="1918374" cy="912534"/>
          </a:xfrm>
          <a:prstGeom prst="rect">
            <a:avLst/>
          </a:prstGeom>
        </p:spPr>
      </p:pic>
      <p:pic>
        <p:nvPicPr>
          <p:cNvPr id="11" name="Picture 10">
            <a:extLst>
              <a:ext uri="{FF2B5EF4-FFF2-40B4-BE49-F238E27FC236}">
                <a16:creationId xmlns:a16="http://schemas.microsoft.com/office/drawing/2014/main" id="{A7F93E52-43A7-9232-0F3C-B5C8784A3AA7}"/>
              </a:ext>
            </a:extLst>
          </p:cNvPr>
          <p:cNvPicPr>
            <a:picLocks noChangeAspect="1"/>
          </p:cNvPicPr>
          <p:nvPr/>
        </p:nvPicPr>
        <p:blipFill>
          <a:blip r:embed="rId6"/>
          <a:stretch>
            <a:fillRect/>
          </a:stretch>
        </p:blipFill>
        <p:spPr>
          <a:xfrm>
            <a:off x="9694506" y="4180115"/>
            <a:ext cx="1918374" cy="671803"/>
          </a:xfrm>
          <a:prstGeom prst="rect">
            <a:avLst/>
          </a:prstGeom>
        </p:spPr>
      </p:pic>
      <p:pic>
        <p:nvPicPr>
          <p:cNvPr id="12" name="Picture 11">
            <a:extLst>
              <a:ext uri="{FF2B5EF4-FFF2-40B4-BE49-F238E27FC236}">
                <a16:creationId xmlns:a16="http://schemas.microsoft.com/office/drawing/2014/main" id="{067CCF74-557C-264C-999D-DEDDCE504F1A}"/>
              </a:ext>
            </a:extLst>
          </p:cNvPr>
          <p:cNvPicPr>
            <a:picLocks noChangeAspect="1"/>
          </p:cNvPicPr>
          <p:nvPr/>
        </p:nvPicPr>
        <p:blipFill>
          <a:blip r:embed="rId7"/>
          <a:stretch>
            <a:fillRect/>
          </a:stretch>
        </p:blipFill>
        <p:spPr>
          <a:xfrm>
            <a:off x="9694506" y="4827759"/>
            <a:ext cx="1918374" cy="75008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400" b="1" dirty="0">
                <a:solidFill>
                  <a:schemeClr val="tx2"/>
                </a:solidFill>
              </a:rPr>
              <a:t>Results and Observations</a:t>
            </a:r>
            <a:endParaRPr lang="en-US" sz="3400" dirty="0"/>
          </a:p>
        </p:txBody>
      </p:sp>
      <p:sp>
        <p:nvSpPr>
          <p:cNvPr id="3" name="Text 1"/>
          <p:cNvSpPr txBox="1"/>
          <p:nvPr/>
        </p:nvSpPr>
        <p:spPr>
          <a:xfrm>
            <a:off x="548640" y="1188720"/>
            <a:ext cx="2926080" cy="292608"/>
          </a:xfrm>
          <a:prstGeom prst="rect">
            <a:avLst/>
          </a:prstGeom>
          <a:noFill/>
          <a:ln/>
        </p:spPr>
        <p:txBody>
          <a:bodyPr wrap="square" lIns="0" tIns="0" rIns="0" bIns="0" rtlCol="0" anchor="t"/>
          <a:lstStyle/>
          <a:p>
            <a:pPr marL="0" indent="0">
              <a:buNone/>
            </a:pPr>
            <a:r>
              <a:rPr lang="en-US" sz="1400" b="1" dirty="0">
                <a:solidFill>
                  <a:schemeClr val="tx2"/>
                </a:solidFill>
              </a:rPr>
              <a:t>TEST A  |  ls -l</a:t>
            </a:r>
            <a:endParaRPr lang="en-US" sz="1400" dirty="0"/>
          </a:p>
        </p:txBody>
      </p:sp>
      <p:pic>
        <p:nvPicPr>
          <p:cNvPr id="4" name="Screenshot A" descr="Terminal screenshot: ls -l execution report"/>
          <p:cNvPicPr>
            <a:picLocks noChangeAspect="1"/>
          </p:cNvPicPr>
          <p:nvPr/>
        </p:nvPicPr>
        <p:blipFill>
          <a:blip r:embed="rId3"/>
          <a:stretch>
            <a:fillRect/>
          </a:stretch>
        </p:blipFill>
        <p:spPr>
          <a:xfrm>
            <a:off x="548640" y="1508760"/>
            <a:ext cx="2926080" cy="1783080"/>
          </a:xfrm>
          <a:prstGeom prst="rect">
            <a:avLst/>
          </a:prstGeom>
        </p:spPr>
      </p:pic>
      <p:sp>
        <p:nvSpPr>
          <p:cNvPr id="5" name="Shape 2"/>
          <p:cNvSpPr/>
          <p:nvPr/>
        </p:nvSpPr>
        <p:spPr>
          <a:xfrm>
            <a:off x="548640" y="1508760"/>
            <a:ext cx="2926080" cy="1783080"/>
          </a:xfrm>
          <a:prstGeom prst="rect">
            <a:avLst/>
          </a:prstGeom>
          <a:ln w="12700">
            <a:solidFill>
              <a:srgbClr val="0B2A5B"/>
            </a:solidFill>
            <a:prstDash val="solid"/>
          </a:ln>
        </p:spPr>
      </p:sp>
      <p:graphicFrame>
        <p:nvGraphicFramePr>
          <p:cNvPr id="9" name="Metrics A"/>
          <p:cNvGraphicFramePr>
            <a:graphicFrameLocks noGrp="1"/>
          </p:cNvGraphicFramePr>
          <p:nvPr>
            <p:extLst>
              <p:ext uri="{D42A27DB-BD31-4B8C-83A1-F6EECF244321}">
                <p14:modId xmlns:p14="http://schemas.microsoft.com/office/powerpoint/2010/main" val="1579011935"/>
              </p:ext>
            </p:extLst>
          </p:nvPr>
        </p:nvGraphicFramePr>
        <p:xfrm>
          <a:off x="548640" y="3456432"/>
          <a:ext cx="2926080" cy="1325880"/>
        </p:xfrm>
        <a:graphic>
          <a:graphicData uri="http://schemas.openxmlformats.org/drawingml/2006/table">
            <a:tbl>
              <a:tblPr/>
              <a:tblGrid>
                <a:gridCol w="1697126">
                  <a:extLst>
                    <a:ext uri="{9D8B030D-6E8A-4147-A177-3AD203B41FA5}">
                      <a16:colId xmlns:a16="http://schemas.microsoft.com/office/drawing/2014/main" val="20000"/>
                    </a:ext>
                  </a:extLst>
                </a:gridCol>
                <a:gridCol w="1228954">
                  <a:extLst>
                    <a:ext uri="{9D8B030D-6E8A-4147-A177-3AD203B41FA5}">
                      <a16:colId xmlns:a16="http://schemas.microsoft.com/office/drawing/2014/main" val="20001"/>
                    </a:ext>
                  </a:extLst>
                </a:gridCol>
              </a:tblGrid>
              <a:tr h="265176">
                <a:tc>
                  <a:txBody>
                    <a:bodyPr/>
                    <a:lstStyle/>
                    <a:p>
                      <a:pPr marL="0" indent="0">
                        <a:buNone/>
                      </a:pPr>
                      <a:r>
                        <a:rPr lang="en-US" sz="1200" dirty="0">
                          <a:solidFill>
                            <a:srgbClr val="0A0C10"/>
                          </a:solidFill>
                        </a:rPr>
                        <a:t>Execution time</a:t>
                      </a:r>
                      <a:endParaRPr lang="en-US" sz="1200" dirty="0"/>
                    </a:p>
                  </a:txBody>
                  <a:tcPr marL="73152" marR="73152" marT="0" marB="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solidFill>
                      <a:srgbClr val="EAF0F8"/>
                    </a:solidFill>
                  </a:tcPr>
                </a:tc>
                <a:tc>
                  <a:txBody>
                    <a:bodyPr/>
                    <a:lstStyle/>
                    <a:p>
                      <a:pPr marL="0" indent="0" algn="r">
                        <a:buNone/>
                      </a:pPr>
                      <a:r>
                        <a:rPr lang="en-US" sz="1200" b="1" dirty="0">
                          <a:solidFill>
                            <a:srgbClr val="0B2A5B"/>
                          </a:solidFill>
                        </a:rPr>
                        <a:t>0.005022 s</a:t>
                      </a:r>
                      <a:endParaRPr lang="en-US" sz="1200" dirty="0"/>
                    </a:p>
                  </a:txBody>
                  <a:tcPr marL="73152" marR="73152" marT="0" marB="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solidFill>
                      <a:srgbClr val="EAF0F8"/>
                    </a:solidFill>
                  </a:tcPr>
                </a:tc>
                <a:extLst>
                  <a:ext uri="{0D108BD9-81ED-4DB2-BD59-A6C34878D82A}">
                    <a16:rowId xmlns:a16="http://schemas.microsoft.com/office/drawing/2014/main" val="10000"/>
                  </a:ext>
                </a:extLst>
              </a:tr>
              <a:tr h="265176">
                <a:tc>
                  <a:txBody>
                    <a:bodyPr/>
                    <a:lstStyle/>
                    <a:p>
                      <a:pPr marL="0" indent="0">
                        <a:buNone/>
                      </a:pPr>
                      <a:r>
                        <a:rPr lang="en-US" sz="1200" dirty="0">
                          <a:solidFill>
                            <a:srgbClr val="0A0C10"/>
                          </a:solidFill>
                        </a:rPr>
                        <a:t>User CPU time</a:t>
                      </a:r>
                      <a:endParaRPr lang="en-US" sz="1200" dirty="0"/>
                    </a:p>
                  </a:txBody>
                  <a:tcPr marL="73152" marR="73152" marT="0" marB="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solidFill>
                      <a:srgbClr val="FFFFFF"/>
                    </a:solidFill>
                  </a:tcPr>
                </a:tc>
                <a:tc>
                  <a:txBody>
                    <a:bodyPr/>
                    <a:lstStyle/>
                    <a:p>
                      <a:pPr marL="0" indent="0" algn="r">
                        <a:buNone/>
                      </a:pPr>
                      <a:r>
                        <a:rPr lang="en-US" sz="1200" b="1" dirty="0">
                          <a:solidFill>
                            <a:srgbClr val="0B2A5B"/>
                          </a:solidFill>
                        </a:rPr>
                        <a:t>0.000000 s</a:t>
                      </a:r>
                      <a:endParaRPr lang="en-US" sz="1200" dirty="0"/>
                    </a:p>
                  </a:txBody>
                  <a:tcPr marL="73152" marR="73152" marT="0" marB="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65176">
                <a:tc>
                  <a:txBody>
                    <a:bodyPr/>
                    <a:lstStyle/>
                    <a:p>
                      <a:pPr marL="0" indent="0">
                        <a:buNone/>
                      </a:pPr>
                      <a:r>
                        <a:rPr lang="en-US" sz="1200" dirty="0">
                          <a:solidFill>
                            <a:srgbClr val="0A0C10"/>
                          </a:solidFill>
                        </a:rPr>
                        <a:t>System CPU time</a:t>
                      </a:r>
                      <a:endParaRPr lang="en-US" sz="1200" dirty="0"/>
                    </a:p>
                  </a:txBody>
                  <a:tcPr marL="73152" marR="73152" marT="0" marB="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solidFill>
                      <a:srgbClr val="EAF0F8"/>
                    </a:solidFill>
                  </a:tcPr>
                </a:tc>
                <a:tc>
                  <a:txBody>
                    <a:bodyPr/>
                    <a:lstStyle/>
                    <a:p>
                      <a:pPr marL="0" indent="0" algn="r">
                        <a:buNone/>
                      </a:pPr>
                      <a:r>
                        <a:rPr lang="en-US" sz="1200" b="1" dirty="0">
                          <a:solidFill>
                            <a:srgbClr val="0B2A5B"/>
                          </a:solidFill>
                        </a:rPr>
                        <a:t>0.004770 s</a:t>
                      </a:r>
                      <a:endParaRPr lang="en-US" sz="1200" dirty="0"/>
                    </a:p>
                  </a:txBody>
                  <a:tcPr marL="73152" marR="73152" marT="0" marB="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solidFill>
                      <a:srgbClr val="EAF0F8"/>
                    </a:solidFill>
                  </a:tcPr>
                </a:tc>
                <a:extLst>
                  <a:ext uri="{0D108BD9-81ED-4DB2-BD59-A6C34878D82A}">
                    <a16:rowId xmlns:a16="http://schemas.microsoft.com/office/drawing/2014/main" val="10002"/>
                  </a:ext>
                </a:extLst>
              </a:tr>
              <a:tr h="265176">
                <a:tc>
                  <a:txBody>
                    <a:bodyPr/>
                    <a:lstStyle/>
                    <a:p>
                      <a:pPr marL="0" indent="0">
                        <a:buNone/>
                      </a:pPr>
                      <a:r>
                        <a:rPr lang="en-US" sz="1200" dirty="0">
                          <a:solidFill>
                            <a:srgbClr val="0A0C10"/>
                          </a:solidFill>
                        </a:rPr>
                        <a:t>Maximum memory</a:t>
                      </a:r>
                      <a:endParaRPr lang="en-US" sz="1200" dirty="0"/>
                    </a:p>
                  </a:txBody>
                  <a:tcPr marL="73152" marR="73152" marT="0" marB="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solidFill>
                      <a:srgbClr val="FFFFFF"/>
                    </a:solidFill>
                  </a:tcPr>
                </a:tc>
                <a:tc>
                  <a:txBody>
                    <a:bodyPr/>
                    <a:lstStyle/>
                    <a:p>
                      <a:pPr marL="0" indent="0" algn="r">
                        <a:buNone/>
                      </a:pPr>
                      <a:r>
                        <a:rPr lang="en-US" sz="1200" b="1" dirty="0">
                          <a:solidFill>
                            <a:srgbClr val="0B2A5B"/>
                          </a:solidFill>
                        </a:rPr>
                        <a:t>8644 KB</a:t>
                      </a:r>
                      <a:endParaRPr lang="en-US" sz="1200" dirty="0"/>
                    </a:p>
                  </a:txBody>
                  <a:tcPr marL="73152" marR="73152" marT="0" marB="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65176">
                <a:tc>
                  <a:txBody>
                    <a:bodyPr/>
                    <a:lstStyle/>
                    <a:p>
                      <a:pPr marL="0" indent="0">
                        <a:buNone/>
                      </a:pPr>
                      <a:r>
                        <a:rPr lang="en-US" sz="1200" dirty="0">
                          <a:solidFill>
                            <a:srgbClr val="0A0C10"/>
                          </a:solidFill>
                        </a:rPr>
                        <a:t>Exit status</a:t>
                      </a:r>
                      <a:endParaRPr lang="en-US" sz="1200" dirty="0"/>
                    </a:p>
                  </a:txBody>
                  <a:tcPr marL="73152" marR="73152" marT="0" marB="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solidFill>
                      <a:srgbClr val="EAF0F8"/>
                    </a:solidFill>
                  </a:tcPr>
                </a:tc>
                <a:tc>
                  <a:txBody>
                    <a:bodyPr/>
                    <a:lstStyle/>
                    <a:p>
                      <a:pPr marL="0" indent="0" algn="r">
                        <a:buNone/>
                      </a:pPr>
                      <a:r>
                        <a:rPr lang="en-US" sz="1200" b="1" dirty="0">
                          <a:solidFill>
                            <a:srgbClr val="0B2A5B"/>
                          </a:solidFill>
                        </a:rPr>
                        <a:t>0</a:t>
                      </a:r>
                      <a:endParaRPr lang="en-US" sz="1200" dirty="0"/>
                    </a:p>
                  </a:txBody>
                  <a:tcPr marL="73152" marR="73152" marT="0" marB="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solidFill>
                      <a:srgbClr val="EAF0F8"/>
                    </a:solidFill>
                  </a:tcPr>
                </a:tc>
                <a:extLst>
                  <a:ext uri="{0D108BD9-81ED-4DB2-BD59-A6C34878D82A}">
                    <a16:rowId xmlns:a16="http://schemas.microsoft.com/office/drawing/2014/main" val="10004"/>
                  </a:ext>
                </a:extLst>
              </a:tr>
            </a:tbl>
          </a:graphicData>
        </a:graphic>
      </p:graphicFrame>
      <p:sp>
        <p:nvSpPr>
          <p:cNvPr id="7" name="Text 3"/>
          <p:cNvSpPr txBox="1"/>
          <p:nvPr/>
        </p:nvSpPr>
        <p:spPr>
          <a:xfrm>
            <a:off x="3840480" y="1188720"/>
            <a:ext cx="3700950" cy="292608"/>
          </a:xfrm>
          <a:prstGeom prst="rect">
            <a:avLst/>
          </a:prstGeom>
          <a:noFill/>
          <a:ln/>
        </p:spPr>
        <p:txBody>
          <a:bodyPr wrap="square" lIns="0" tIns="0" rIns="0" bIns="0" rtlCol="0" anchor="t"/>
          <a:lstStyle/>
          <a:p>
            <a:pPr marL="0" indent="0">
              <a:buNone/>
            </a:pPr>
            <a:r>
              <a:rPr lang="en-US" sz="1400" b="1" dirty="0">
                <a:solidFill>
                  <a:schemeClr val="tx2"/>
                </a:solidFill>
              </a:rPr>
              <a:t>TEST B  |  sleep 2</a:t>
            </a:r>
            <a:endParaRPr lang="en-US" sz="1400" dirty="0"/>
          </a:p>
        </p:txBody>
      </p:sp>
      <p:pic>
        <p:nvPicPr>
          <p:cNvPr id="8" name="Screenshot B" descr="Terminal screenshot: sleep 2 execution report"/>
          <p:cNvPicPr>
            <a:picLocks noChangeAspect="1"/>
          </p:cNvPicPr>
          <p:nvPr/>
        </p:nvPicPr>
        <p:blipFill>
          <a:blip r:embed="rId4"/>
          <a:stretch>
            <a:fillRect/>
          </a:stretch>
        </p:blipFill>
        <p:spPr>
          <a:xfrm>
            <a:off x="3840480" y="1508760"/>
            <a:ext cx="3700950" cy="1783080"/>
          </a:xfrm>
          <a:prstGeom prst="rect">
            <a:avLst/>
          </a:prstGeom>
        </p:spPr>
      </p:pic>
      <p:sp>
        <p:nvSpPr>
          <p:cNvPr id="6" name="Shape 4"/>
          <p:cNvSpPr/>
          <p:nvPr/>
        </p:nvSpPr>
        <p:spPr>
          <a:xfrm>
            <a:off x="3840480" y="1508760"/>
            <a:ext cx="3700950" cy="1783080"/>
          </a:xfrm>
          <a:prstGeom prst="rect">
            <a:avLst/>
          </a:prstGeom>
          <a:ln w="12700">
            <a:solidFill>
              <a:srgbClr val="0B2A5B"/>
            </a:solidFill>
            <a:prstDash val="solid"/>
          </a:ln>
        </p:spPr>
      </p:sp>
      <p:graphicFrame>
        <p:nvGraphicFramePr>
          <p:cNvPr id="17" name="Metrics B"/>
          <p:cNvGraphicFramePr>
            <a:graphicFrameLocks noGrp="1"/>
          </p:cNvGraphicFramePr>
          <p:nvPr>
            <p:extLst>
              <p:ext uri="{D42A27DB-BD31-4B8C-83A1-F6EECF244321}">
                <p14:modId xmlns:p14="http://schemas.microsoft.com/office/powerpoint/2010/main" val="1579011935"/>
              </p:ext>
            </p:extLst>
          </p:nvPr>
        </p:nvGraphicFramePr>
        <p:xfrm>
          <a:off x="3840480" y="3456432"/>
          <a:ext cx="3700950" cy="1325880"/>
        </p:xfrm>
        <a:graphic>
          <a:graphicData uri="http://schemas.openxmlformats.org/drawingml/2006/table">
            <a:tbl>
              <a:tblPr/>
              <a:tblGrid>
                <a:gridCol w="2146551">
                  <a:extLst>
                    <a:ext uri="{9D8B030D-6E8A-4147-A177-3AD203B41FA5}">
                      <a16:colId xmlns:a16="http://schemas.microsoft.com/office/drawing/2014/main" val="20000"/>
                    </a:ext>
                  </a:extLst>
                </a:gridCol>
                <a:gridCol w="1554399">
                  <a:extLst>
                    <a:ext uri="{9D8B030D-6E8A-4147-A177-3AD203B41FA5}">
                      <a16:colId xmlns:a16="http://schemas.microsoft.com/office/drawing/2014/main" val="20001"/>
                    </a:ext>
                  </a:extLst>
                </a:gridCol>
              </a:tblGrid>
              <a:tr h="265176">
                <a:tc>
                  <a:txBody>
                    <a:bodyPr/>
                    <a:lstStyle/>
                    <a:p>
                      <a:pPr marL="0" indent="0">
                        <a:buNone/>
                      </a:pPr>
                      <a:r>
                        <a:rPr lang="en-US" sz="1200" dirty="0">
                          <a:solidFill>
                            <a:srgbClr val="0A0C10"/>
                          </a:solidFill>
                        </a:rPr>
                        <a:t>Execution time</a:t>
                      </a:r>
                      <a:endParaRPr lang="en-US" sz="1200" dirty="0"/>
                    </a:p>
                  </a:txBody>
                  <a:tcPr marL="73152" marR="73152" marT="0" marB="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solidFill>
                      <a:srgbClr val="EAF0F8"/>
                    </a:solidFill>
                  </a:tcPr>
                </a:tc>
                <a:tc>
                  <a:txBody>
                    <a:bodyPr/>
                    <a:lstStyle/>
                    <a:p>
                      <a:pPr marL="0" indent="0" algn="r">
                        <a:buNone/>
                      </a:pPr>
                      <a:r>
                        <a:rPr lang="en-US" sz="1200" b="1" dirty="0">
                          <a:solidFill>
                            <a:srgbClr val="0B2A5B"/>
                          </a:solidFill>
                        </a:rPr>
                        <a:t>2.003424 s</a:t>
                      </a:r>
                      <a:endParaRPr lang="en-US" sz="1200" dirty="0"/>
                    </a:p>
                  </a:txBody>
                  <a:tcPr marL="73152" marR="73152" marT="0" marB="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solidFill>
                      <a:srgbClr val="EAF0F8"/>
                    </a:solidFill>
                  </a:tcPr>
                </a:tc>
                <a:extLst>
                  <a:ext uri="{0D108BD9-81ED-4DB2-BD59-A6C34878D82A}">
                    <a16:rowId xmlns:a16="http://schemas.microsoft.com/office/drawing/2014/main" val="10000"/>
                  </a:ext>
                </a:extLst>
              </a:tr>
              <a:tr h="265176">
                <a:tc>
                  <a:txBody>
                    <a:bodyPr/>
                    <a:lstStyle/>
                    <a:p>
                      <a:pPr marL="0" indent="0">
                        <a:buNone/>
                      </a:pPr>
                      <a:r>
                        <a:rPr lang="en-US" sz="1200" dirty="0">
                          <a:solidFill>
                            <a:srgbClr val="0A0C10"/>
                          </a:solidFill>
                        </a:rPr>
                        <a:t>User CPU time</a:t>
                      </a:r>
                      <a:endParaRPr lang="en-US" sz="1200" dirty="0"/>
                    </a:p>
                  </a:txBody>
                  <a:tcPr marL="73152" marR="73152" marT="0" marB="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solidFill>
                      <a:srgbClr val="FFFFFF"/>
                    </a:solidFill>
                  </a:tcPr>
                </a:tc>
                <a:tc>
                  <a:txBody>
                    <a:bodyPr/>
                    <a:lstStyle/>
                    <a:p>
                      <a:pPr marL="0" indent="0" algn="r">
                        <a:buNone/>
                      </a:pPr>
                      <a:r>
                        <a:rPr lang="en-US" sz="1200" b="1" dirty="0">
                          <a:solidFill>
                            <a:srgbClr val="0B2A5B"/>
                          </a:solidFill>
                        </a:rPr>
                        <a:t>0.000000 s</a:t>
                      </a:r>
                      <a:endParaRPr lang="en-US" sz="1200" dirty="0"/>
                    </a:p>
                  </a:txBody>
                  <a:tcPr marL="73152" marR="73152" marT="0" marB="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65176">
                <a:tc>
                  <a:txBody>
                    <a:bodyPr/>
                    <a:lstStyle/>
                    <a:p>
                      <a:pPr marL="0" indent="0">
                        <a:buNone/>
                      </a:pPr>
                      <a:r>
                        <a:rPr lang="en-US" sz="1200" dirty="0">
                          <a:solidFill>
                            <a:srgbClr val="0A0C10"/>
                          </a:solidFill>
                        </a:rPr>
                        <a:t>System CPU time</a:t>
                      </a:r>
                      <a:endParaRPr lang="en-US" sz="1200" dirty="0"/>
                    </a:p>
                  </a:txBody>
                  <a:tcPr marL="73152" marR="73152" marT="0" marB="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solidFill>
                      <a:srgbClr val="EAF0F8"/>
                    </a:solidFill>
                  </a:tcPr>
                </a:tc>
                <a:tc>
                  <a:txBody>
                    <a:bodyPr/>
                    <a:lstStyle/>
                    <a:p>
                      <a:pPr marL="0" indent="0" algn="r">
                        <a:buNone/>
                      </a:pPr>
                      <a:r>
                        <a:rPr lang="en-US" sz="1200" b="1" dirty="0">
                          <a:solidFill>
                            <a:srgbClr val="0B2A5B"/>
                          </a:solidFill>
                        </a:rPr>
                        <a:t>0.003018 s</a:t>
                      </a:r>
                      <a:endParaRPr lang="en-US" sz="1200" dirty="0"/>
                    </a:p>
                  </a:txBody>
                  <a:tcPr marL="73152" marR="73152" marT="0" marB="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solidFill>
                      <a:srgbClr val="EAF0F8"/>
                    </a:solidFill>
                  </a:tcPr>
                </a:tc>
                <a:extLst>
                  <a:ext uri="{0D108BD9-81ED-4DB2-BD59-A6C34878D82A}">
                    <a16:rowId xmlns:a16="http://schemas.microsoft.com/office/drawing/2014/main" val="10002"/>
                  </a:ext>
                </a:extLst>
              </a:tr>
              <a:tr h="265176">
                <a:tc>
                  <a:txBody>
                    <a:bodyPr/>
                    <a:lstStyle/>
                    <a:p>
                      <a:pPr marL="0" indent="0">
                        <a:buNone/>
                      </a:pPr>
                      <a:r>
                        <a:rPr lang="en-US" sz="1200" dirty="0">
                          <a:solidFill>
                            <a:srgbClr val="0A0C10"/>
                          </a:solidFill>
                        </a:rPr>
                        <a:t>Maximum memory</a:t>
                      </a:r>
                      <a:endParaRPr lang="en-US" sz="1200" dirty="0"/>
                    </a:p>
                  </a:txBody>
                  <a:tcPr marL="73152" marR="73152" marT="0" marB="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solidFill>
                      <a:srgbClr val="FFFFFF"/>
                    </a:solidFill>
                  </a:tcPr>
                </a:tc>
                <a:tc>
                  <a:txBody>
                    <a:bodyPr/>
                    <a:lstStyle/>
                    <a:p>
                      <a:pPr marL="0" indent="0" algn="r">
                        <a:buNone/>
                      </a:pPr>
                      <a:r>
                        <a:rPr lang="en-US" sz="1200" b="1" dirty="0">
                          <a:solidFill>
                            <a:srgbClr val="0B2A5B"/>
                          </a:solidFill>
                        </a:rPr>
                        <a:t>8016 KB</a:t>
                      </a:r>
                      <a:endParaRPr lang="en-US" sz="1200" dirty="0"/>
                    </a:p>
                  </a:txBody>
                  <a:tcPr marL="73152" marR="73152" marT="0" marB="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65176">
                <a:tc>
                  <a:txBody>
                    <a:bodyPr/>
                    <a:lstStyle/>
                    <a:p>
                      <a:pPr marL="0" indent="0">
                        <a:buNone/>
                      </a:pPr>
                      <a:r>
                        <a:rPr lang="en-US" sz="1200" dirty="0">
                          <a:solidFill>
                            <a:srgbClr val="0A0C10"/>
                          </a:solidFill>
                        </a:rPr>
                        <a:t>Exit status</a:t>
                      </a:r>
                      <a:endParaRPr lang="en-US" sz="1200" dirty="0"/>
                    </a:p>
                  </a:txBody>
                  <a:tcPr marL="73152" marR="73152" marT="0" marB="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solidFill>
                      <a:srgbClr val="EAF0F8"/>
                    </a:solidFill>
                  </a:tcPr>
                </a:tc>
                <a:tc>
                  <a:txBody>
                    <a:bodyPr/>
                    <a:lstStyle/>
                    <a:p>
                      <a:pPr marL="0" indent="0" algn="r">
                        <a:buNone/>
                      </a:pPr>
                      <a:r>
                        <a:rPr lang="en-US" sz="1200" b="1" dirty="0">
                          <a:solidFill>
                            <a:srgbClr val="0B2A5B"/>
                          </a:solidFill>
                        </a:rPr>
                        <a:t>0</a:t>
                      </a:r>
                      <a:endParaRPr lang="en-US" sz="1200" dirty="0"/>
                    </a:p>
                  </a:txBody>
                  <a:tcPr marL="73152" marR="73152" marT="0" marB="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solidFill>
                      <a:srgbClr val="EAF0F8"/>
                    </a:solidFill>
                  </a:tcPr>
                </a:tc>
                <a:extLst>
                  <a:ext uri="{0D108BD9-81ED-4DB2-BD59-A6C34878D82A}">
                    <a16:rowId xmlns:a16="http://schemas.microsoft.com/office/drawing/2014/main" val="10004"/>
                  </a:ext>
                </a:extLst>
              </a:tr>
            </a:tbl>
          </a:graphicData>
        </a:graphic>
      </p:graphicFrame>
      <p:sp>
        <p:nvSpPr>
          <p:cNvPr id="11" name="Text 5"/>
          <p:cNvSpPr txBox="1"/>
          <p:nvPr/>
        </p:nvSpPr>
        <p:spPr>
          <a:xfrm>
            <a:off x="7907190" y="1188720"/>
            <a:ext cx="3689663" cy="292608"/>
          </a:xfrm>
          <a:prstGeom prst="rect">
            <a:avLst/>
          </a:prstGeom>
          <a:noFill/>
          <a:ln/>
        </p:spPr>
        <p:txBody>
          <a:bodyPr wrap="square" lIns="0" tIns="0" rIns="0" bIns="0" rtlCol="0" anchor="t"/>
          <a:lstStyle/>
          <a:p>
            <a:pPr marL="0" indent="0">
              <a:buNone/>
            </a:pPr>
            <a:r>
              <a:rPr lang="en-US" sz="1400" b="1" dirty="0">
                <a:solidFill>
                  <a:schemeClr val="tx2"/>
                </a:solidFill>
              </a:rPr>
              <a:t>TEST C  |  abcxyz</a:t>
            </a:r>
            <a:endParaRPr lang="en-US" sz="1400" dirty="0"/>
          </a:p>
        </p:txBody>
      </p:sp>
      <p:pic>
        <p:nvPicPr>
          <p:cNvPr id="12" name="Screenshot C" descr="Terminal screenshot: abcxyz invalid command report"/>
          <p:cNvPicPr>
            <a:picLocks noChangeAspect="1"/>
          </p:cNvPicPr>
          <p:nvPr/>
        </p:nvPicPr>
        <p:blipFill>
          <a:blip r:embed="rId5"/>
          <a:stretch>
            <a:fillRect/>
          </a:stretch>
        </p:blipFill>
        <p:spPr>
          <a:xfrm>
            <a:off x="7907190" y="1508760"/>
            <a:ext cx="3689663" cy="1783080"/>
          </a:xfrm>
          <a:prstGeom prst="rect">
            <a:avLst/>
          </a:prstGeom>
        </p:spPr>
      </p:pic>
      <p:sp>
        <p:nvSpPr>
          <p:cNvPr id="13" name="Shape 6"/>
          <p:cNvSpPr/>
          <p:nvPr/>
        </p:nvSpPr>
        <p:spPr>
          <a:xfrm>
            <a:off x="7907190" y="1508760"/>
            <a:ext cx="3689663" cy="1783080"/>
          </a:xfrm>
          <a:prstGeom prst="rect">
            <a:avLst/>
          </a:prstGeom>
          <a:ln w="12700">
            <a:solidFill>
              <a:srgbClr val="0B2A5B"/>
            </a:solidFill>
            <a:prstDash val="solid"/>
          </a:ln>
        </p:spPr>
      </p:sp>
      <p:graphicFrame>
        <p:nvGraphicFramePr>
          <p:cNvPr id="25" name="Metrics C"/>
          <p:cNvGraphicFramePr>
            <a:graphicFrameLocks noGrp="1"/>
          </p:cNvGraphicFramePr>
          <p:nvPr>
            <p:extLst>
              <p:ext uri="{D42A27DB-BD31-4B8C-83A1-F6EECF244321}">
                <p14:modId xmlns:p14="http://schemas.microsoft.com/office/powerpoint/2010/main" val="1579011935"/>
              </p:ext>
            </p:extLst>
          </p:nvPr>
        </p:nvGraphicFramePr>
        <p:xfrm>
          <a:off x="7907190" y="3456432"/>
          <a:ext cx="3689664" cy="1325880"/>
        </p:xfrm>
        <a:graphic>
          <a:graphicData uri="http://schemas.openxmlformats.org/drawingml/2006/table">
            <a:tbl>
              <a:tblPr/>
              <a:tblGrid>
                <a:gridCol w="2140005">
                  <a:extLst>
                    <a:ext uri="{9D8B030D-6E8A-4147-A177-3AD203B41FA5}">
                      <a16:colId xmlns:a16="http://schemas.microsoft.com/office/drawing/2014/main" val="20000"/>
                    </a:ext>
                  </a:extLst>
                </a:gridCol>
                <a:gridCol w="1549659">
                  <a:extLst>
                    <a:ext uri="{9D8B030D-6E8A-4147-A177-3AD203B41FA5}">
                      <a16:colId xmlns:a16="http://schemas.microsoft.com/office/drawing/2014/main" val="20001"/>
                    </a:ext>
                  </a:extLst>
                </a:gridCol>
              </a:tblGrid>
              <a:tr h="265176">
                <a:tc>
                  <a:txBody>
                    <a:bodyPr/>
                    <a:lstStyle/>
                    <a:p>
                      <a:pPr marL="0" indent="0">
                        <a:buNone/>
                      </a:pPr>
                      <a:r>
                        <a:rPr lang="en-US" sz="1200" dirty="0">
                          <a:solidFill>
                            <a:srgbClr val="0A0C10"/>
                          </a:solidFill>
                        </a:rPr>
                        <a:t>Execution time</a:t>
                      </a:r>
                      <a:endParaRPr lang="en-US" sz="1200" dirty="0"/>
                    </a:p>
                  </a:txBody>
                  <a:tcPr marL="73152" marR="73152" marT="0" marB="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solidFill>
                      <a:srgbClr val="EAF0F8"/>
                    </a:solidFill>
                  </a:tcPr>
                </a:tc>
                <a:tc>
                  <a:txBody>
                    <a:bodyPr/>
                    <a:lstStyle/>
                    <a:p>
                      <a:pPr marL="0" indent="0" algn="r">
                        <a:buNone/>
                      </a:pPr>
                      <a:r>
                        <a:rPr lang="en-US" sz="1200" b="1" dirty="0">
                          <a:solidFill>
                            <a:srgbClr val="0B2A5B"/>
                          </a:solidFill>
                        </a:rPr>
                        <a:t>0.223443 s</a:t>
                      </a:r>
                      <a:endParaRPr lang="en-US" sz="1200" dirty="0"/>
                    </a:p>
                  </a:txBody>
                  <a:tcPr marL="73152" marR="73152" marT="0" marB="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solidFill>
                      <a:srgbClr val="EAF0F8"/>
                    </a:solidFill>
                  </a:tcPr>
                </a:tc>
                <a:extLst>
                  <a:ext uri="{0D108BD9-81ED-4DB2-BD59-A6C34878D82A}">
                    <a16:rowId xmlns:a16="http://schemas.microsoft.com/office/drawing/2014/main" val="10000"/>
                  </a:ext>
                </a:extLst>
              </a:tr>
              <a:tr h="265176">
                <a:tc>
                  <a:txBody>
                    <a:bodyPr/>
                    <a:lstStyle/>
                    <a:p>
                      <a:pPr marL="0" indent="0">
                        <a:buNone/>
                      </a:pPr>
                      <a:r>
                        <a:rPr lang="en-US" sz="1200" dirty="0">
                          <a:solidFill>
                            <a:srgbClr val="0A0C10"/>
                          </a:solidFill>
                        </a:rPr>
                        <a:t>User CPU time</a:t>
                      </a:r>
                      <a:endParaRPr lang="en-US" sz="1200" dirty="0"/>
                    </a:p>
                  </a:txBody>
                  <a:tcPr marL="73152" marR="73152" marT="0" marB="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solidFill>
                      <a:srgbClr val="FFFFFF"/>
                    </a:solidFill>
                  </a:tcPr>
                </a:tc>
                <a:tc>
                  <a:txBody>
                    <a:bodyPr/>
                    <a:lstStyle/>
                    <a:p>
                      <a:pPr marL="0" indent="0" algn="r">
                        <a:buNone/>
                      </a:pPr>
                      <a:r>
                        <a:rPr lang="en-US" sz="1200" b="1" dirty="0">
                          <a:solidFill>
                            <a:srgbClr val="0B2A5B"/>
                          </a:solidFill>
                        </a:rPr>
                        <a:t>0.000000 s</a:t>
                      </a:r>
                      <a:endParaRPr lang="en-US" sz="1200" dirty="0"/>
                    </a:p>
                  </a:txBody>
                  <a:tcPr marL="73152" marR="73152" marT="0" marB="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65176">
                <a:tc>
                  <a:txBody>
                    <a:bodyPr/>
                    <a:lstStyle/>
                    <a:p>
                      <a:pPr marL="0" indent="0">
                        <a:buNone/>
                      </a:pPr>
                      <a:r>
                        <a:rPr lang="en-US" sz="1200" dirty="0">
                          <a:solidFill>
                            <a:srgbClr val="0A0C10"/>
                          </a:solidFill>
                        </a:rPr>
                        <a:t>System CPU time</a:t>
                      </a:r>
                      <a:endParaRPr lang="en-US" sz="1200" dirty="0"/>
                    </a:p>
                  </a:txBody>
                  <a:tcPr marL="73152" marR="73152" marT="0" marB="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solidFill>
                      <a:srgbClr val="EAF0F8"/>
                    </a:solidFill>
                  </a:tcPr>
                </a:tc>
                <a:tc>
                  <a:txBody>
                    <a:bodyPr/>
                    <a:lstStyle/>
                    <a:p>
                      <a:pPr marL="0" indent="0" algn="r">
                        <a:buNone/>
                      </a:pPr>
                      <a:r>
                        <a:rPr lang="en-US" sz="1200" b="1" dirty="0">
                          <a:solidFill>
                            <a:srgbClr val="0B2A5B"/>
                          </a:solidFill>
                        </a:rPr>
                        <a:t>0.006032 s</a:t>
                      </a:r>
                      <a:endParaRPr lang="en-US" sz="1200" dirty="0"/>
                    </a:p>
                  </a:txBody>
                  <a:tcPr marL="73152" marR="73152" marT="0" marB="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solidFill>
                      <a:srgbClr val="EAF0F8"/>
                    </a:solidFill>
                  </a:tcPr>
                </a:tc>
                <a:extLst>
                  <a:ext uri="{0D108BD9-81ED-4DB2-BD59-A6C34878D82A}">
                    <a16:rowId xmlns:a16="http://schemas.microsoft.com/office/drawing/2014/main" val="10002"/>
                  </a:ext>
                </a:extLst>
              </a:tr>
              <a:tr h="265176">
                <a:tc>
                  <a:txBody>
                    <a:bodyPr/>
                    <a:lstStyle/>
                    <a:p>
                      <a:pPr marL="0" indent="0">
                        <a:buNone/>
                      </a:pPr>
                      <a:r>
                        <a:rPr lang="en-US" sz="1200" dirty="0">
                          <a:solidFill>
                            <a:srgbClr val="0A0C10"/>
                          </a:solidFill>
                        </a:rPr>
                        <a:t>Maximum memory</a:t>
                      </a:r>
                      <a:endParaRPr lang="en-US" sz="1200" dirty="0"/>
                    </a:p>
                  </a:txBody>
                  <a:tcPr marL="73152" marR="73152" marT="0" marB="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solidFill>
                      <a:srgbClr val="FFFFFF"/>
                    </a:solidFill>
                  </a:tcPr>
                </a:tc>
                <a:tc>
                  <a:txBody>
                    <a:bodyPr/>
                    <a:lstStyle/>
                    <a:p>
                      <a:pPr marL="0" indent="0" algn="r">
                        <a:buNone/>
                      </a:pPr>
                      <a:r>
                        <a:rPr lang="en-US" sz="1200" b="1" dirty="0">
                          <a:solidFill>
                            <a:srgbClr val="0B2A5B"/>
                          </a:solidFill>
                        </a:rPr>
                        <a:t>1064 KB</a:t>
                      </a:r>
                      <a:endParaRPr lang="en-US" sz="1200" dirty="0"/>
                    </a:p>
                  </a:txBody>
                  <a:tcPr marL="73152" marR="73152" marT="0" marB="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65176">
                <a:tc>
                  <a:txBody>
                    <a:bodyPr/>
                    <a:lstStyle/>
                    <a:p>
                      <a:pPr marL="0" indent="0">
                        <a:buNone/>
                      </a:pPr>
                      <a:r>
                        <a:rPr lang="en-US" sz="1200" dirty="0">
                          <a:solidFill>
                            <a:srgbClr val="0A0C10"/>
                          </a:solidFill>
                        </a:rPr>
                        <a:t>Exit status</a:t>
                      </a:r>
                      <a:endParaRPr lang="en-US" sz="1200" dirty="0"/>
                    </a:p>
                  </a:txBody>
                  <a:tcPr marL="73152" marR="73152" marT="0" marB="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solidFill>
                      <a:srgbClr val="EAF0F8"/>
                    </a:solidFill>
                  </a:tcPr>
                </a:tc>
                <a:tc>
                  <a:txBody>
                    <a:bodyPr/>
                    <a:lstStyle/>
                    <a:p>
                      <a:pPr marL="0" indent="0" algn="r">
                        <a:buNone/>
                      </a:pPr>
                      <a:r>
                        <a:rPr lang="en-US" sz="1200" b="1" dirty="0">
                          <a:solidFill>
                            <a:srgbClr val="0B2A5B"/>
                          </a:solidFill>
                        </a:rPr>
                        <a:t>127</a:t>
                      </a:r>
                      <a:endParaRPr lang="en-US" sz="1200" dirty="0"/>
                    </a:p>
                  </a:txBody>
                  <a:tcPr marL="73152" marR="73152" marT="0" marB="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solidFill>
                      <a:srgbClr val="EAF0F8"/>
                    </a:solidFill>
                  </a:tcPr>
                </a:tc>
                <a:extLst>
                  <a:ext uri="{0D108BD9-81ED-4DB2-BD59-A6C34878D82A}">
                    <a16:rowId xmlns:a16="http://schemas.microsoft.com/office/drawing/2014/main" val="10004"/>
                  </a:ext>
                </a:extLst>
              </a:tr>
            </a:tbl>
          </a:graphicData>
        </a:graphic>
      </p:graphicFrame>
      <p:sp>
        <p:nvSpPr>
          <p:cNvPr id="15" name="Observations panel"/>
          <p:cNvSpPr/>
          <p:nvPr/>
        </p:nvSpPr>
        <p:spPr>
          <a:xfrm>
            <a:off x="548640" y="4937760"/>
            <a:ext cx="11064240" cy="1325880"/>
          </a:xfrm>
          <a:prstGeom prst="roundRect">
            <a:avLst>
              <a:gd name="adj" fmla="val 5517"/>
            </a:avLst>
          </a:prstGeom>
          <a:solidFill>
            <a:srgbClr val="0B2A5B"/>
          </a:solidFill>
          <a:ln/>
        </p:spPr>
      </p:sp>
      <p:sp>
        <p:nvSpPr>
          <p:cNvPr id="16" name="Text 8"/>
          <p:cNvSpPr txBox="1"/>
          <p:nvPr/>
        </p:nvSpPr>
        <p:spPr>
          <a:xfrm>
            <a:off x="822960" y="5047488"/>
            <a:ext cx="3657600" cy="237744"/>
          </a:xfrm>
          <a:prstGeom prst="rect">
            <a:avLst/>
          </a:prstGeom>
          <a:noFill/>
          <a:ln/>
        </p:spPr>
        <p:txBody>
          <a:bodyPr wrap="square" lIns="0" tIns="0" rIns="0" bIns="0" rtlCol="0" anchor="t"/>
          <a:lstStyle/>
          <a:p>
            <a:pPr marL="0" indent="0">
              <a:buNone/>
            </a:pPr>
            <a:r>
              <a:rPr lang="en-US" sz="1100" b="1" kern="0" spc="200" dirty="0">
                <a:solidFill>
                  <a:schemeClr val="accent2"/>
                </a:solidFill>
              </a:rPr>
              <a:t>OBSERVATIONS</a:t>
            </a:r>
            <a:endParaRPr lang="en-US" sz="1100" dirty="0"/>
          </a:p>
        </p:txBody>
      </p:sp>
      <p:sp>
        <p:nvSpPr>
          <p:cNvPr id="10" name="Text 9"/>
          <p:cNvSpPr txBox="1"/>
          <p:nvPr/>
        </p:nvSpPr>
        <p:spPr>
          <a:xfrm>
            <a:off x="822960" y="5349240"/>
            <a:ext cx="5029200" cy="86868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bg1"/>
                </a:solidFill>
              </a:rPr>
              <a:t>Successful commands return exit status 0 in these tests.</a:t>
            </a:r>
            <a:endParaRPr lang="en-US" sz="1400" dirty="0"/>
          </a:p>
          <a:p>
            <a:pPr marL="342900" indent="-342900">
              <a:spcAft>
                <a:spcPts val="400"/>
              </a:spcAft>
              <a:buSzPct val="100000"/>
              <a:buChar char="•"/>
            </a:pPr>
            <a:r>
              <a:rPr lang="en-US" sz="1400" dirty="0">
                <a:solidFill>
                  <a:schemeClr val="bg1"/>
                </a:solidFill>
              </a:rPr>
              <a:t>An invalid command produces an error and exit status 127.</a:t>
            </a:r>
            <a:endParaRPr lang="en-US" sz="1400" dirty="0"/>
          </a:p>
        </p:txBody>
      </p:sp>
      <p:sp>
        <p:nvSpPr>
          <p:cNvPr id="18" name="Text 10"/>
          <p:cNvSpPr txBox="1"/>
          <p:nvPr/>
        </p:nvSpPr>
        <p:spPr>
          <a:xfrm>
            <a:off x="6217920" y="5349240"/>
            <a:ext cx="5212080" cy="86868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bg1"/>
                </a:solidFill>
              </a:rPr>
              <a:t>The sleep 2 test completes in about two seconds of elapsed time.</a:t>
            </a:r>
            <a:endParaRPr lang="en-US" sz="1400" dirty="0"/>
          </a:p>
          <a:p>
            <a:pPr marL="342900" indent="-342900">
              <a:spcAft>
                <a:spcPts val="400"/>
              </a:spcAft>
              <a:buSzPct val="100000"/>
              <a:buChar char="•"/>
            </a:pPr>
            <a:r>
              <a:rPr lang="en-US" sz="1400" dirty="0">
                <a:solidFill>
                  <a:schemeClr val="bg1"/>
                </a:solidFill>
              </a:rPr>
              <a:t>Measurements can vary between executions and system conditions.</a:t>
            </a:r>
            <a:endParaRPr lang="en-US" sz="1400" dirty="0"/>
          </a:p>
        </p:txBody>
      </p:sp>
      <p:sp>
        <p:nvSpPr>
          <p:cNvPr id="14"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685"/>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400" b="1" dirty="0">
                <a:solidFill>
                  <a:schemeClr val="tx2"/>
                </a:solidFill>
              </a:rPr>
              <a:t>Limitations and Future Scope</a:t>
            </a:r>
            <a:endParaRPr lang="en-US" sz="3400" dirty="0"/>
          </a:p>
        </p:txBody>
      </p:sp>
      <p:sp>
        <p:nvSpPr>
          <p:cNvPr id="3" name="Limitations panel"/>
          <p:cNvSpPr/>
          <p:nvPr/>
        </p:nvSpPr>
        <p:spPr>
          <a:xfrm>
            <a:off x="548640" y="1371600"/>
            <a:ext cx="5394960" cy="4206240"/>
          </a:xfrm>
          <a:prstGeom prst="roundRect">
            <a:avLst>
              <a:gd name="adj" fmla="val 1739"/>
            </a:avLst>
          </a:prstGeom>
          <a:solidFill>
            <a:srgbClr val="EAF0F8"/>
          </a:solidFill>
          <a:ln/>
        </p:spPr>
      </p:sp>
      <p:sp>
        <p:nvSpPr>
          <p:cNvPr id="4" name="Text 2"/>
          <p:cNvSpPr txBox="1"/>
          <p:nvPr/>
        </p:nvSpPr>
        <p:spPr>
          <a:xfrm>
            <a:off x="822960" y="1554480"/>
            <a:ext cx="4846320" cy="365760"/>
          </a:xfrm>
          <a:prstGeom prst="rect">
            <a:avLst/>
          </a:prstGeom>
          <a:noFill/>
          <a:ln/>
        </p:spPr>
        <p:txBody>
          <a:bodyPr wrap="square" lIns="0" tIns="0" rIns="0" bIns="0" rtlCol="0" anchor="t"/>
          <a:lstStyle/>
          <a:p>
            <a:pPr marL="0" indent="0">
              <a:buNone/>
            </a:pPr>
            <a:r>
              <a:rPr lang="en-US" sz="2000" b="1" dirty="0">
                <a:solidFill>
                  <a:schemeClr val="tx2"/>
                </a:solidFill>
              </a:rPr>
              <a:t>Current limitations</a:t>
            </a:r>
            <a:endParaRPr lang="en-US" sz="2000" dirty="0"/>
          </a:p>
        </p:txBody>
      </p:sp>
      <p:sp>
        <p:nvSpPr>
          <p:cNvPr id="5" name="Text 3"/>
          <p:cNvSpPr txBox="1"/>
          <p:nvPr/>
        </p:nvSpPr>
        <p:spPr>
          <a:xfrm>
            <a:off x="822960" y="2103120"/>
            <a:ext cx="4846320" cy="329184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chemeClr val="tx1"/>
                </a:solidFill>
              </a:rPr>
              <a:t>Accepts simple space-separated commands and arguments.</a:t>
            </a:r>
            <a:endParaRPr lang="en-US" sz="1800" dirty="0"/>
          </a:p>
          <a:p>
            <a:pPr marL="342900" indent="-342900">
              <a:spcAft>
                <a:spcPts val="1200"/>
              </a:spcAft>
              <a:buSzPct val="100000"/>
              <a:buChar char="•"/>
            </a:pPr>
            <a:r>
              <a:rPr lang="en-US" sz="1800" dirty="0">
                <a:solidFill>
                  <a:schemeClr val="tx1"/>
                </a:solidFill>
              </a:rPr>
              <a:t>Does not implement full shell parsing.</a:t>
            </a:r>
            <a:endParaRPr lang="en-US" sz="1800" dirty="0"/>
          </a:p>
          <a:p>
            <a:pPr marL="342900" indent="-342900">
              <a:spcAft>
                <a:spcPts val="1200"/>
              </a:spcAft>
              <a:buSzPct val="100000"/>
              <a:buChar char="•"/>
            </a:pPr>
            <a:r>
              <a:rPr lang="en-US" sz="1800" dirty="0">
                <a:solidFill>
                  <a:schemeClr val="tx1"/>
                </a:solidFill>
              </a:rPr>
              <a:t>Does not support shell pipelines or input/output redirection.</a:t>
            </a:r>
            <a:endParaRPr lang="en-US" sz="1800" dirty="0"/>
          </a:p>
          <a:p>
            <a:pPr marL="342900" indent="-342900">
              <a:spcAft>
                <a:spcPts val="1200"/>
              </a:spcAft>
              <a:buSzPct val="100000"/>
              <a:buChar char="•"/>
            </a:pPr>
            <a:r>
              <a:rPr lang="en-US" sz="1800" dirty="0">
                <a:solidFill>
                  <a:schemeClr val="tx1"/>
                </a:solidFill>
              </a:rPr>
              <a:t>Measurements may vary between runs.</a:t>
            </a:r>
            <a:endParaRPr lang="en-US" sz="1800" dirty="0"/>
          </a:p>
          <a:p>
            <a:pPr marL="342900" indent="-342900">
              <a:spcAft>
                <a:spcPts val="1200"/>
              </a:spcAft>
              <a:buSzPct val="100000"/>
              <a:buChar char="•"/>
            </a:pPr>
            <a:r>
              <a:rPr lang="en-US" sz="1800" dirty="0">
                <a:solidFill>
                  <a:schemeClr val="tx1"/>
                </a:solidFill>
              </a:rPr>
              <a:t>The current version is a command-line tool.</a:t>
            </a:r>
            <a:endParaRPr lang="en-US" sz="1800" dirty="0"/>
          </a:p>
        </p:txBody>
      </p:sp>
      <p:sp>
        <p:nvSpPr>
          <p:cNvPr id="6" name="Future panel"/>
          <p:cNvSpPr/>
          <p:nvPr/>
        </p:nvSpPr>
        <p:spPr>
          <a:xfrm>
            <a:off x="6309360" y="1371600"/>
            <a:ext cx="5303520" cy="4206240"/>
          </a:xfrm>
          <a:prstGeom prst="roundRect">
            <a:avLst>
              <a:gd name="adj" fmla="val 1739"/>
            </a:avLst>
          </a:prstGeom>
          <a:solidFill>
            <a:srgbClr val="FFFFFF"/>
          </a:solidFill>
          <a:ln w="25400">
            <a:solidFill>
              <a:srgbClr val="1F4E9E"/>
            </a:solidFill>
            <a:prstDash val="dash"/>
          </a:ln>
        </p:spPr>
      </p:sp>
      <p:sp>
        <p:nvSpPr>
          <p:cNvPr id="7" name="Text 5"/>
          <p:cNvSpPr txBox="1"/>
          <p:nvPr/>
        </p:nvSpPr>
        <p:spPr>
          <a:xfrm>
            <a:off x="6583680" y="1554480"/>
            <a:ext cx="3017520" cy="365760"/>
          </a:xfrm>
          <a:prstGeom prst="rect">
            <a:avLst/>
          </a:prstGeom>
          <a:noFill/>
          <a:ln/>
        </p:spPr>
        <p:txBody>
          <a:bodyPr wrap="square" lIns="0" tIns="0" rIns="0" bIns="0" rtlCol="0" anchor="t"/>
          <a:lstStyle/>
          <a:p>
            <a:pPr marL="0" indent="0">
              <a:buNone/>
            </a:pPr>
            <a:r>
              <a:rPr lang="en-US" sz="2000" b="1" dirty="0">
                <a:solidFill>
                  <a:schemeClr val="tx2"/>
                </a:solidFill>
              </a:rPr>
              <a:t>Future enhancements</a:t>
            </a:r>
            <a:endParaRPr lang="en-US" sz="2000" dirty="0"/>
          </a:p>
        </p:txBody>
      </p:sp>
      <p:sp>
        <p:nvSpPr>
          <p:cNvPr id="8" name="Shape 6"/>
          <p:cNvSpPr/>
          <p:nvPr/>
        </p:nvSpPr>
        <p:spPr>
          <a:xfrm>
            <a:off x="9509760" y="1591056"/>
            <a:ext cx="1828800" cy="292608"/>
          </a:xfrm>
          <a:prstGeom prst="roundRect">
            <a:avLst>
              <a:gd name="adj" fmla="val 18750"/>
            </a:avLst>
          </a:prstGeom>
          <a:solidFill>
            <a:srgbClr val="1F4E9E"/>
          </a:solidFill>
          <a:ln/>
        </p:spPr>
      </p:sp>
      <p:sp>
        <p:nvSpPr>
          <p:cNvPr id="9" name="Text 7"/>
          <p:cNvSpPr txBox="1"/>
          <p:nvPr/>
        </p:nvSpPr>
        <p:spPr>
          <a:xfrm>
            <a:off x="9509760" y="1591056"/>
            <a:ext cx="1828800" cy="292608"/>
          </a:xfrm>
          <a:prstGeom prst="rect">
            <a:avLst/>
          </a:prstGeom>
          <a:noFill/>
          <a:ln/>
        </p:spPr>
        <p:txBody>
          <a:bodyPr wrap="square" lIns="0" tIns="0" rIns="0" bIns="0" rtlCol="0" anchor="ctr"/>
          <a:lstStyle/>
          <a:p>
            <a:pPr marL="0" indent="0" algn="ctr">
              <a:buNone/>
            </a:pPr>
            <a:r>
              <a:rPr lang="en-US" sz="1000" b="1" kern="0" spc="100" dirty="0">
                <a:solidFill>
                  <a:srgbClr val="FFFFFF"/>
                </a:solidFill>
              </a:rPr>
              <a:t>PROPOSED - NOT BUILT</a:t>
            </a:r>
            <a:endParaRPr lang="en-US" sz="1000" dirty="0"/>
          </a:p>
        </p:txBody>
      </p:sp>
      <p:sp>
        <p:nvSpPr>
          <p:cNvPr id="10" name="Text 8"/>
          <p:cNvSpPr txBox="1"/>
          <p:nvPr/>
        </p:nvSpPr>
        <p:spPr>
          <a:xfrm>
            <a:off x="6583680" y="2103120"/>
            <a:ext cx="4754880" cy="329184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chemeClr val="tx1"/>
                </a:solidFill>
              </a:rPr>
              <a:t>Support more advanced command parsing.</a:t>
            </a:r>
            <a:endParaRPr lang="en-US" sz="1800" dirty="0"/>
          </a:p>
          <a:p>
            <a:pPr marL="342900" indent="-342900">
              <a:spcAft>
                <a:spcPts val="1200"/>
              </a:spcAft>
              <a:buSzPct val="100000"/>
              <a:buChar char="•"/>
            </a:pPr>
            <a:r>
              <a:rPr lang="en-US" sz="1800" dirty="0">
                <a:solidFill>
                  <a:schemeClr val="tx1"/>
                </a:solidFill>
              </a:rPr>
              <a:t>Add support for pipelines and redirection.</a:t>
            </a:r>
            <a:endParaRPr lang="en-US" sz="1800" dirty="0"/>
          </a:p>
          <a:p>
            <a:pPr marL="342900" indent="-342900">
              <a:spcAft>
                <a:spcPts val="1200"/>
              </a:spcAft>
              <a:buSzPct val="100000"/>
              <a:buChar char="•"/>
            </a:pPr>
            <a:r>
              <a:rPr lang="en-US" sz="1800" dirty="0">
                <a:solidFill>
                  <a:schemeClr val="tx1"/>
                </a:solidFill>
              </a:rPr>
              <a:t>Save execution reports to files.</a:t>
            </a:r>
            <a:endParaRPr lang="en-US" sz="1800" dirty="0"/>
          </a:p>
          <a:p>
            <a:pPr marL="342900" indent="-342900">
              <a:spcAft>
                <a:spcPts val="1200"/>
              </a:spcAft>
              <a:buSzPct val="100000"/>
              <a:buChar char="•"/>
            </a:pPr>
            <a:r>
              <a:rPr lang="en-US" sz="1800" dirty="0">
                <a:solidFill>
                  <a:schemeClr val="tx1"/>
                </a:solidFill>
              </a:rPr>
              <a:t>Compare repeated command executions.</a:t>
            </a:r>
            <a:endParaRPr lang="en-US" sz="1800" dirty="0"/>
          </a:p>
          <a:p>
            <a:pPr marL="342900" indent="-342900">
              <a:spcAft>
                <a:spcPts val="1200"/>
              </a:spcAft>
              <a:buSzPct val="100000"/>
              <a:buChar char="•"/>
            </a:pPr>
            <a:r>
              <a:rPr lang="en-US" sz="1800" dirty="0">
                <a:solidFill>
                  <a:schemeClr val="tx1"/>
                </a:solidFill>
              </a:rPr>
              <a:t>Provide report summaries or graphical performance visualizations.</a:t>
            </a:r>
            <a:endParaRPr lang="en-US" sz="1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685"/>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400" b="1" dirty="0">
                <a:solidFill>
                  <a:schemeClr val="bg1"/>
                </a:solidFill>
              </a:rPr>
              <a:t>Conclusion </a:t>
            </a:r>
            <a:r>
              <a:rPr lang="en-US" dirty="0"/>
              <a:t>a</a:t>
            </a:r>
            <a:r>
              <a:rPr lang="en-US" sz="3400" b="1" dirty="0">
                <a:solidFill>
                  <a:schemeClr val="bg1"/>
                </a:solidFill>
              </a:rPr>
              <a:t>nd Impact</a:t>
            </a:r>
            <a:endParaRPr lang="en-US" sz="3400" dirty="0"/>
          </a:p>
        </p:txBody>
      </p:sp>
      <p:sp>
        <p:nvSpPr>
          <p:cNvPr id="3" name="Text 1"/>
          <p:cNvSpPr txBox="1"/>
          <p:nvPr/>
        </p:nvSpPr>
        <p:spPr>
          <a:xfrm>
            <a:off x="548640" y="1371600"/>
            <a:ext cx="6766560" cy="3383280"/>
          </a:xfrm>
          <a:prstGeom prst="rect">
            <a:avLst/>
          </a:prstGeom>
          <a:noFill/>
          <a:ln/>
        </p:spPr>
        <p:txBody>
          <a:bodyPr wrap="square" lIns="0" tIns="0" rIns="0" bIns="0" rtlCol="0" anchor="t"/>
          <a:lstStyle/>
          <a:p>
            <a:pPr marL="285750" indent="-285750">
              <a:buFont typeface="Arial" panose="020B0604020202020204" pitchFamily="34" charset="0"/>
              <a:buChar char="•"/>
            </a:pPr>
            <a:r>
              <a:rPr lang="en-IN" dirty="0">
                <a:solidFill>
                  <a:schemeClr val="accent2">
                    <a:lumMod val="40000"/>
                    <a:lumOff val="60000"/>
                  </a:schemeClr>
                </a:solidFill>
              </a:rPr>
              <a:t> Developed a C-based Linux Command Execution Time Profiler.</a:t>
            </a:r>
          </a:p>
          <a:p>
            <a:pPr marL="285750" indent="-285750">
              <a:buFont typeface="Arial" panose="020B0604020202020204" pitchFamily="34" charset="0"/>
              <a:buChar char="•"/>
            </a:pPr>
            <a:r>
              <a:rPr lang="en-IN" dirty="0">
                <a:solidFill>
                  <a:schemeClr val="accent2">
                    <a:lumMod val="40000"/>
                    <a:lumOff val="60000"/>
                  </a:schemeClr>
                </a:solidFill>
              </a:rPr>
              <a:t>Measured elapsed execution time, CPU usage, maximum memory usage, and exit status.</a:t>
            </a:r>
          </a:p>
          <a:p>
            <a:pPr marL="285750" indent="-285750">
              <a:buFont typeface="Arial" panose="020B0604020202020204" pitchFamily="34" charset="0"/>
              <a:buChar char="•"/>
            </a:pPr>
            <a:r>
              <a:rPr lang="en-IN" dirty="0">
                <a:solidFill>
                  <a:schemeClr val="accent2">
                    <a:lumMod val="40000"/>
                    <a:lumOff val="60000"/>
                  </a:schemeClr>
                </a:solidFill>
              </a:rPr>
              <a:t>Tested successful commands, timed execution using "sleep 2", and invalid-command handling.</a:t>
            </a:r>
          </a:p>
          <a:p>
            <a:pPr marL="285750" indent="-285750">
              <a:buFont typeface="Arial" panose="020B0604020202020204" pitchFamily="34" charset="0"/>
              <a:buChar char="•"/>
            </a:pPr>
            <a:r>
              <a:rPr lang="en-IN" dirty="0">
                <a:solidFill>
                  <a:schemeClr val="accent2">
                    <a:lumMod val="40000"/>
                    <a:lumOff val="60000"/>
                  </a:schemeClr>
                </a:solidFill>
              </a:rPr>
              <a:t>Demonstrated Linux process-management concepts using "fork()", "</a:t>
            </a:r>
            <a:r>
              <a:rPr lang="en-IN" dirty="0" err="1">
                <a:solidFill>
                  <a:schemeClr val="accent2">
                    <a:lumMod val="40000"/>
                    <a:lumOff val="60000"/>
                  </a:schemeClr>
                </a:solidFill>
              </a:rPr>
              <a:t>execvp</a:t>
            </a:r>
            <a:r>
              <a:rPr lang="en-IN" dirty="0">
                <a:solidFill>
                  <a:schemeClr val="accent2">
                    <a:lumMod val="40000"/>
                    <a:lumOff val="60000"/>
                  </a:schemeClr>
                </a:solidFill>
              </a:rPr>
              <a:t>()", and "wait4()".</a:t>
            </a:r>
          </a:p>
          <a:p>
            <a:pPr marL="285750" indent="-285750">
              <a:buFont typeface="Arial" panose="020B0604020202020204" pitchFamily="34" charset="0"/>
              <a:buChar char="•"/>
            </a:pPr>
            <a:r>
              <a:rPr lang="en-IN" dirty="0">
                <a:solidFill>
                  <a:schemeClr val="accent2">
                    <a:lumMod val="40000"/>
                    <a:lumOff val="60000"/>
                  </a:schemeClr>
                </a:solidFill>
              </a:rPr>
              <a:t>Helps users understand command execution time and associated resource usage in one report.</a:t>
            </a:r>
          </a:p>
          <a:p>
            <a:pPr marL="285750" indent="-285750">
              <a:buFont typeface="Arial" panose="020B0604020202020204" pitchFamily="34" charset="0"/>
              <a:buChar char="•"/>
            </a:pPr>
            <a:r>
              <a:rPr lang="en-IN" dirty="0">
                <a:solidFill>
                  <a:schemeClr val="accent2">
                    <a:lumMod val="40000"/>
                    <a:lumOff val="60000"/>
                  </a:schemeClr>
                </a:solidFill>
              </a:rPr>
              <a:t>Provides a foundation for future command-performance analysis and optimization.</a:t>
            </a:r>
          </a:p>
        </p:txBody>
      </p:sp>
      <p:sp>
        <p:nvSpPr>
          <p:cNvPr id="4" name="GitHub card"/>
          <p:cNvSpPr/>
          <p:nvPr/>
        </p:nvSpPr>
        <p:spPr>
          <a:xfrm>
            <a:off x="7772400" y="1371600"/>
            <a:ext cx="3840480" cy="1920240"/>
          </a:xfrm>
          <a:prstGeom prst="roundRect">
            <a:avLst>
              <a:gd name="adj" fmla="val 3810"/>
            </a:avLst>
          </a:prstGeom>
          <a:solidFill>
            <a:srgbClr val="0B2A5B"/>
          </a:solidFill>
          <a:ln/>
        </p:spPr>
      </p:sp>
      <p:sp>
        <p:nvSpPr>
          <p:cNvPr id="5" name="Text 3"/>
          <p:cNvSpPr txBox="1"/>
          <p:nvPr/>
        </p:nvSpPr>
        <p:spPr>
          <a:xfrm>
            <a:off x="8046720" y="1600200"/>
            <a:ext cx="3291840" cy="274320"/>
          </a:xfrm>
          <a:prstGeom prst="rect">
            <a:avLst/>
          </a:prstGeom>
          <a:noFill/>
          <a:ln/>
        </p:spPr>
        <p:txBody>
          <a:bodyPr wrap="square" lIns="0" tIns="0" rIns="0" bIns="0" rtlCol="0" anchor="t"/>
          <a:lstStyle/>
          <a:p>
            <a:pPr marL="0" indent="0">
              <a:buNone/>
            </a:pPr>
            <a:r>
              <a:rPr lang="en-US" sz="1200" b="1" kern="0" spc="200" dirty="0">
                <a:solidFill>
                  <a:schemeClr val="accent2"/>
                </a:solidFill>
              </a:rPr>
              <a:t>GITHUB REPOSITORY</a:t>
            </a:r>
            <a:endParaRPr lang="en-US" sz="1200" dirty="0"/>
          </a:p>
        </p:txBody>
      </p:sp>
      <p:sp>
        <p:nvSpPr>
          <p:cNvPr id="6" name="Text 4"/>
          <p:cNvSpPr txBox="1"/>
          <p:nvPr/>
        </p:nvSpPr>
        <p:spPr>
          <a:xfrm>
            <a:off x="8046720" y="2011680"/>
            <a:ext cx="3291840" cy="1097280"/>
          </a:xfrm>
          <a:prstGeom prst="rect">
            <a:avLst/>
          </a:prstGeom>
          <a:noFill/>
          <a:ln/>
        </p:spPr>
        <p:txBody>
          <a:bodyPr wrap="square" lIns="0" tIns="0" rIns="0" bIns="0" rtlCol="0" anchor="t"/>
          <a:lstStyle/>
          <a:p>
            <a:pPr marL="0" indent="0">
              <a:spcAft>
                <a:spcPts val="300"/>
              </a:spcAft>
              <a:buNone/>
            </a:pPr>
            <a:r>
              <a:rPr lang="en-US" sz="1300" u="sng" dirty="0">
                <a:solidFill>
                  <a:srgbClr val="FFFFFF"/>
                </a:solidFill>
                <a:latin typeface="Courier New" pitchFamily="34" charset="0"/>
                <a:ea typeface="Courier New" pitchFamily="34" charset="-122"/>
                <a:cs typeface="Courier New" pitchFamily="34" charset="-120"/>
                <a:hlinkClick r:id="rId3" tooltip="Open repository">
                  <a:extLst>
                    <a:ext uri="{A12FA001-AC4F-418D-AE19-62706E023703}">
                      <ahyp:hlinkClr xmlns:ahyp="http://schemas.microsoft.com/office/drawing/2018/hyperlinkcolor" val="tx"/>
                    </a:ext>
                  </a:extLst>
                </a:hlinkClick>
              </a:rPr>
              <a:t>https://github.com/</a:t>
            </a:r>
            <a:endParaRPr lang="en-US" sz="1300" dirty="0"/>
          </a:p>
          <a:p>
            <a:pPr marL="0" indent="0">
              <a:spcAft>
                <a:spcPts val="300"/>
              </a:spcAft>
              <a:buNone/>
            </a:pPr>
            <a:r>
              <a:rPr lang="en-US" sz="1300" u="sng" dirty="0">
                <a:solidFill>
                  <a:srgbClr val="FFFFFF"/>
                </a:solidFill>
                <a:latin typeface="Courier New" pitchFamily="34" charset="0"/>
                <a:ea typeface="Courier New" pitchFamily="34" charset="-122"/>
                <a:cs typeface="Courier New" pitchFamily="34" charset="-120"/>
                <a:hlinkClick r:id="rId3" tooltip="Open repository">
                  <a:extLst>
                    <a:ext uri="{A12FA001-AC4F-418D-AE19-62706E023703}">
                      <ahyp:hlinkClr xmlns:ahyp="http://schemas.microsoft.com/office/drawing/2018/hyperlinkcolor" val="tx"/>
                    </a:ext>
                  </a:extLst>
                </a:hlinkClick>
              </a:rPr>
              <a:t>kanusri-tmj/</a:t>
            </a:r>
            <a:endParaRPr lang="en-US" sz="1300" dirty="0"/>
          </a:p>
          <a:p>
            <a:pPr marL="0" indent="0">
              <a:spcAft>
                <a:spcPts val="300"/>
              </a:spcAft>
              <a:buNone/>
            </a:pPr>
            <a:r>
              <a:rPr lang="en-US" sz="1300" u="sng" dirty="0">
                <a:solidFill>
                  <a:srgbClr val="FFFFFF"/>
                </a:solidFill>
                <a:latin typeface="Courier New" pitchFamily="34" charset="0"/>
                <a:ea typeface="Courier New" pitchFamily="34" charset="-122"/>
                <a:cs typeface="Courier New" pitchFamily="34" charset="-120"/>
                <a:hlinkClick r:id="rId3" tooltip="Open repository">
                  <a:extLst>
                    <a:ext uri="{A12FA001-AC4F-418D-AE19-62706E023703}">
                      <ahyp:hlinkClr xmlns:ahyp="http://schemas.microsoft.com/office/drawing/2018/hyperlinkcolor" val="tx"/>
                    </a:ext>
                  </a:extLst>
                </a:hlinkClick>
              </a:rPr>
              <a:t>linux-command-profiler</a:t>
            </a:r>
            <a:endParaRPr lang="en-US" sz="1300" dirty="0"/>
          </a:p>
        </p:txBody>
      </p:sp>
      <p:sp>
        <p:nvSpPr>
          <p:cNvPr id="7" name="Text 5"/>
          <p:cNvSpPr txBox="1"/>
          <p:nvPr/>
        </p:nvSpPr>
        <p:spPr>
          <a:xfrm>
            <a:off x="548640" y="4544007"/>
            <a:ext cx="7315200" cy="1554480"/>
          </a:xfrm>
          <a:prstGeom prst="rect">
            <a:avLst/>
          </a:prstGeom>
          <a:noFill/>
          <a:ln/>
        </p:spPr>
        <p:txBody>
          <a:bodyPr wrap="square" lIns="0" tIns="0" rIns="0" bIns="0" rtlCol="0" anchor="t"/>
          <a:lstStyle/>
          <a:p>
            <a:pPr marL="0" indent="0">
              <a:spcAft>
                <a:spcPts val="600"/>
              </a:spcAft>
              <a:buNone/>
            </a:pPr>
            <a:r>
              <a:rPr lang="en-US" sz="4800" b="1" dirty="0">
                <a:solidFill>
                  <a:srgbClr val="FFFFFF"/>
                </a:solidFill>
              </a:rPr>
              <a:t>Thank You</a:t>
            </a:r>
            <a:endParaRPr lang="en-US" sz="4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9AA7BA"/>
                </a:solidFill>
              </a:defRPr>
            </a:lvl1pPr>
          </a:lstStyle>
          <a:p>
            <a:pPr algn="r"/>
            <a:fld id="{F7021451-1387-4CA6-816F-3879F97B5CBC}" type="slidenum">
              <a:rPr lang="en-US" b="0"/>
              <a:t>10</a:t>
            </a:fld>
            <a:endParaRPr lang="en-US"/>
          </a:p>
        </p:txBody>
      </p:sp>
    </p:spTree>
  </p:cSld>
  <p:clrMapOvr>
    <a:masterClrMapping/>
  </p:clrMapOvr>
</p:sld>
</file>

<file path=ppt/theme/theme1.xml><?xml version="1.0" encoding="utf-8"?>
<a:theme xmlns:a="http://schemas.openxmlformats.org/drawingml/2006/main" name="OS Profiler Navy">
  <a:themeElements>
    <a:clrScheme name="OS Profiler Navy">
      <a:dk1>
        <a:srgbClr val="0A0C10"/>
      </a:dk1>
      <a:lt1>
        <a:srgbClr val="FFFFFF"/>
      </a:lt1>
      <a:dk2>
        <a:srgbClr val="0B2A5B"/>
      </a:dk2>
      <a:lt2>
        <a:srgbClr val="EAF0F8"/>
      </a:lt2>
      <a:accent1>
        <a:srgbClr val="1F4E9E"/>
      </a:accent1>
      <a:accent2>
        <a:srgbClr val="7FA6E3"/>
      </a:accent2>
      <a:accent3>
        <a:srgbClr val="4A5568"/>
      </a:accent3>
      <a:accent4>
        <a:srgbClr val="9AA7BA"/>
      </a:accent4>
      <a:accent5>
        <a:srgbClr val="123A7A"/>
      </a:accent5>
      <a:accent6>
        <a:srgbClr val="D7E3F5"/>
      </a:accent6>
      <a:hlink>
        <a:srgbClr val="7FA6E3"/>
      </a:hlink>
      <a:folHlink>
        <a:srgbClr val="9AA7BA"/>
      </a:folHlink>
    </a:clrScheme>
    <a:fontScheme name="OS Profiler Nav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TotalTime>
  <Words>2109</Words>
  <Application>Microsoft Office PowerPoint</Application>
  <PresentationFormat>Widescreen</PresentationFormat>
  <Paragraphs>264</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Courier New</vt:lpstr>
      <vt:lpstr>OS Profiler Navy</vt:lpstr>
      <vt:lpstr>Linux Command Execution Time Profiler</vt:lpstr>
      <vt:lpstr>Problem Statement</vt:lpstr>
      <vt:lpstr>Project Objectives and Solution</vt:lpstr>
      <vt:lpstr>Technologies and Tools</vt:lpstr>
      <vt:lpstr>System Architecture</vt:lpstr>
      <vt:lpstr>Implementation Approach</vt:lpstr>
      <vt:lpstr>Testing the Profiler</vt:lpstr>
      <vt:lpstr>Results and Observations</vt:lpstr>
      <vt:lpstr>Limitations and Future Scope</vt:lpstr>
      <vt:lpstr>Conclusion and Impact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Linux Command Execution Time Profiler</dc:title>
  <dc:subject>Operating Systems Hackathon Project</dc:subject>
  <dc:creator>K Anusri, K Sai Anshu, K Dheeraj, B Mohith</dc:creator>
  <cp:lastModifiedBy>K ANUSRI</cp:lastModifiedBy>
  <cp:revision>5</cp:revision>
  <dcterms:created xsi:type="dcterms:W3CDTF">2026-10-16T09:54:44Z</dcterms:created>
  <dcterms:modified xsi:type="dcterms:W3CDTF">2026-10-16T11:04:18Z</dcterms:modified>
</cp:coreProperties>
</file>